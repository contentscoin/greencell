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6" r:id="rId17"/>
    <p:sldId id="260" r:id="rId11"/>
    <p:sldId id="261" r:id="rId12"/>
    <p:sldId id="262" r:id="rId13"/>
    <p:sldId id="263" r:id="rId14"/>
    <p:sldId id="267" r:id="rId18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[오프닝 30초]</a:t>
            </a:r>
          </a:p>
          <a:p>
            <a:r>
              <a:t>그린셀바이옴 올인원 크림을 ‘PDRN 중심 재생 케어’ 관점에서 소개하는 자료입니다.</a:t>
            </a:r>
          </a:p>
          <a:p>
            <a:r>
              <a:t>오늘 전달할 한 문장: “재생 성분 PDRN을 중심에 두고, 장벽·수분·마이크로바이옴까지 한 병으로 잡는 올인원 설계.”</a:t>
            </a:r>
          </a:p>
          <a:p>
            <a:r>
              <a:t>※ 내부 주의: PDRN 배합·표기명·함량은 제조사 확인 전입니다. 확정 전까지 ‘PDRN 함유’를 단정적으로 말하지 말고 “PDRN 설계 방향”으로 설명하세요.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[시장 배경 1분]</a:t>
            </a:r>
          </a:p>
          <a:p>
            <a:r>
              <a:t>재생·리페어가 뷰티 카테고리의 중심으로 이동했고, 시술 후 홈케어 수요가 계속 늘고 있습니다.</a:t>
            </a:r>
          </a:p>
          <a:p>
            <a:r>
              <a:t>요즘 고객은 전성분표를 직접 확인하고 비교합니다. 그래서 ‘무엇이 들었는지’가 구매 기준이 됩니다.</a:t>
            </a:r>
          </a:p>
          <a:p>
            <a:r>
              <a:t>우리는 제약 기반 배합 기술력 + PDRN CORE 설계로 이 흐름에 답합니다.</a:t>
            </a:r>
          </a:p>
          <a:p>
            <a:r>
              <a:t>※ 시장 수치는 출처 확정 후 삽입 예정이므로, 지금은 숫자를 말하지 마세요.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[성분 정의 1분]</a:t>
            </a:r>
          </a:p>
          <a:p>
            <a:r>
              <a:t>PDRN은 폴리데옥시리보뉴클레오타이드, 쉽게 말해 저분자 DNA 단편의 복합체입니다.</a:t>
            </a:r>
          </a:p>
          <a:p>
            <a:r>
              <a:t>피부가 스스로 회복하는 과정에 필요한 ‘재료(뉴클레오타이드)’를 공급한다는 개념으로 설명하면 고객이 가장 쉽게 이해합니다.</a:t>
            </a:r>
          </a:p>
          <a:p>
            <a:r>
              <a:t>유래(연어/식물)와 전성분 표기명은 원료 규격서 확인 후 확정입니다. 질문받으면 “확인 중”으로 답하세요.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[기전 1분 30초]</a:t>
            </a:r>
          </a:p>
          <a:p>
            <a:r>
              <a:t>핵심은 A2A 수용체입니다. 여기서 네 가지 방향으로 작용한다고 보고되어 있습니다.</a:t>
            </a:r>
          </a:p>
          <a:p>
            <a:r>
              <a:t>① 염증 신호는 낮추고 항염 신호는 높이는 밸런싱, ② VEGF를 통한 순환·영양 공급, ③ EGF·FGF·IGF 등 성장인자 시너지, ④ DNA 합성 살베이지 경로로 적은 에너지로 세포 재생 유도.</a:t>
            </a:r>
          </a:p>
          <a:p>
            <a:r>
              <a:t>※ 이 내용은 ‘원료에 대한 학술자료 요약’입니다. 완제품의 의학적 효능으로 말하면 광고 위반이 됩니다. 반드시 “원료 연구에서는 이렇게 보고됩니다”라는 표현을 쓰세요.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[차별점 1분]</a:t>
            </a:r>
          </a:p>
          <a:p>
            <a:r>
              <a:t>고객이 가장 많이 혼동하는 부분입니다. 성분마다 역할이 다릅니다.</a:t>
            </a:r>
          </a:p>
          <a:p>
            <a:r>
              <a:t>PDRN은 재생의 ‘출발점(재료 공급)’, 성장인자는 ‘신호’, 히알루론산은 ‘보습’, 세라마이드는 ‘방어’입니다.</a:t>
            </a:r>
          </a:p>
          <a:p>
            <a:r>
              <a:t>특히 마지막 줄이 중요합니다. 발효추출물이나 캘러스배양추출물은 PDRN의 대체 원료가 아닙니다. ‘식물 줄기세포니까 PDRN과 같다’는 설명은 절대 하지 마세요.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[기대 변화 1분]</a:t>
            </a:r>
          </a:p>
          <a:p>
            <a:r>
              <a:t>진정 → 장벽 → 탄력 → 수분 → 밸런스, 다섯 가지 축으로 설명합니다.</a:t>
            </a:r>
          </a:p>
          <a:p>
            <a:r>
              <a:t>고객 상황에 맞춰 하나만 골라 강조하는 것이 효과적입니다. 예: 시술 후에는 진정, 겨울철에는 장벽·수분, 40대 이상은 탄력·밀도.</a:t>
            </a:r>
          </a:p>
          <a:p>
            <a:r>
              <a:t>※ ‘재생’, ‘치료’ 같은 의약품적 표현 대신 “도움을 줍니다”, “관리합니다”로 말하세요.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[배합 구조 1분]</a:t>
            </a:r>
          </a:p>
          <a:p>
            <a:r>
              <a:t>PDRN을 중심에 두고 6가지 콤플렉스가 둘러싸는 구조입니다.</a:t>
            </a:r>
          </a:p>
          <a:p>
            <a:r>
              <a:t>5GF 나노좀, 8중 히알루론산, 복합 세라마이드, 마이크로바이옴 3종, 식물줄기세포 배양액 5종, 펩타이드 5종.</a:t>
            </a:r>
          </a:p>
          <a:p>
            <a:r>
              <a:t>‘성분을 많이 넣었다’가 아니라 ‘역할이 겹치지 않게 배치했다’는 점을 강조하세요.</a:t>
            </a:r>
          </a:p>
          <a:p>
            <a:r>
              <a:t>※ 함량(ppm/%)은 제조사 확인 후 표기 예정입니다.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[스토리 마무리 1분]</a:t>
            </a:r>
          </a:p>
          <a:p>
            <a:r>
              <a:t>네 단계로 정리합니다. PDRN이 신호를 켜고(SIGNAL), 5GF·펩타이드가 증폭하고(AMPLIFY), 세라마이드·히알루론산이 장벽과 수분을 고정하고(LOCK), 마이크로바이옴이 환경을 유지합니다(BALANCE).</a:t>
            </a:r>
          </a:p>
          <a:p>
            <a:r>
              <a:t>여기서 올인원의 가치가 나옵니다. 네 단계를 각각 다른 제품으로 사는 대신, 한 병으로 끝냅니다.</a:t>
            </a:r>
          </a:p>
          <a:p>
            <a:r>
              <a:t>가격 저항이 있는 고객에게는 ‘라인 구매 대비 비용’ 관점으로 연결하세요.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[제품 정보 + 시연 1분 30초]</a:t>
            </a:r>
          </a:p>
          <a:p>
            <a:r>
              <a:t>제품 스펙을 간단히 짚고, 오른쪽 사용 리추얼은 말로만 하지 말고 직접 손으로 시연하세요.</a:t>
            </a:r>
          </a:p>
          <a:p>
            <a:r>
              <a:t>목선 → 턱·볼·눈가 → 이마 순서로, 아래에서 위로 쓸어 올리는 방향이 핵심입니다.</a:t>
            </a:r>
          </a:p>
          <a:p>
            <a:r>
              <a:t>탄력이 떨어진 쪽을 먼저 레이어링하고 반대쪽도 같은 방식으로 진행하도록 안내합니다.</a:t>
            </a:r>
          </a:p>
          <a:p>
            <a:r>
              <a:t>2~3회 덧바르면 보습·탄력 체감이 커진다는 팁으로 마무리하세요.</a:t>
            </a:r>
          </a:p>
          <a:p>
            <a:r>
              <a:t>※ 용량 등 표시사항은 최종 패키지 기준으로 확정합니다.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[응대 가이드 — 내부 교육용]</a:t>
            </a:r>
          </a:p>
          <a:p>
            <a:r>
              <a:t>네 가지 질문은 현장에서 반드시 나옵니다. 답변 톤을 통일하세요.</a:t>
            </a:r>
          </a:p>
          <a:p>
            <a:r>
              <a:t>Q1은 지금 가장 민감합니다. 확정 자료가 없으면 “제조사 확인 자료 기준으로 안내드리겠습니다”로 끊고, 추정 답변을 하지 마세요.</a:t>
            </a:r>
          </a:p>
          <a:p>
            <a:r>
              <a:t>Q2는 반드시 선을 그어야 합니다. 시술과 동일한 효과라는 뉘앙스도 위험합니다.</a:t>
            </a:r>
          </a:p>
          <a:p>
            <a:r>
              <a:t>Q3·Q4는 확인 중 항목과 패치 테스트 권장으로 안내합니다.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[내부 검토용 — 대외 발표 시 제외]</a:t>
            </a:r>
          </a:p>
          <a:p>
            <a:r>
              <a:t>현재 패키지 전성분표에서 PDRN에 해당하는 표기 성분명이 확인되지 않았습니다.</a:t>
            </a:r>
          </a:p>
          <a:p>
            <a:r>
              <a:t>따라서 확정 자료를 받기 전까지 PDRN 함유 표현은 대외 사용을 보류합니다.</a:t>
            </a:r>
          </a:p>
          <a:p>
            <a:r>
              <a:t>제조사에는 배합 여부·표기명·함량·유래·규격서·적용 범위 6개 항목을 문서로 요청하고, 회신 자료를 근거 파일로 보관하세요.</a:t>
            </a:r>
          </a:p>
          <a:p>
            <a:r>
              <a:t>회신 후에는 왼쪽 초록 박스의 표현만 사용하고, 빨간 박스 표현은 어떤 채널에서도 쓰지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[클로징 30초]</a:t>
            </a:r>
          </a:p>
          <a:p>
            <a:r>
              <a:t>“건강하게 아름다워지는 그날까지” — 브랜드 메시지로 마무리합니다.</a:t>
            </a:r>
          </a:p>
          <a:p>
            <a:r>
              <a:t>마지막에 다음 액션을 반드시 제안하세요. 샘플 제공, 체험 일정, 또는 발주 상담 중 하나를 고르게 합니다.</a:t>
            </a:r>
          </a:p>
          <a:p>
            <a:r>
              <a:t>질문이 남았다면 확정되지 않은 항목은 메모해서 확인 후 회신하겠다고 안내하세요.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bg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4580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16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E87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14300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320">
                <a:solidFill>
                  <a:srgbClr val="2EE87F"/>
                </a:solidFill>
                <a:latin typeface="Segoe UI"/>
                <a:ea typeface="Segoe UI"/>
                <a:cs typeface="Segoe UI"/>
              </a:rPr>
              <a:t>CLEAN SCIENTIFIC COSMETIC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78638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 spc="200">
                <a:solidFill>
                  <a:srgbClr val="2EE87F"/>
                </a:solidFill>
                <a:latin typeface="Segoe UI"/>
                <a:ea typeface="Segoe UI"/>
                <a:cs typeface="Segoe UI"/>
              </a:rPr>
              <a:t>PDRN</a:t>
            </a:r>
            <a:r>
              <a:rPr sz="4000">
                <a:solidFill>
                  <a:srgbClr val="8FE3C4"/>
                </a:solidFill>
                <a:latin typeface="Segoe UI"/>
                <a:ea typeface="Segoe UI"/>
                <a:cs typeface="Segoe UI"/>
              </a:rPr>
              <a:t>  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063240"/>
            <a:ext cx="8229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 spc="160"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GREENCELL BIOME-7™</a:t>
            </a:r>
          </a:p>
        </p:txBody>
      </p:sp>
      <p:sp>
        <p:nvSpPr>
          <p:cNvPr id="8" name="Rectangle 7"/>
          <p:cNvSpPr/>
          <p:nvPr/>
        </p:nvSpPr>
        <p:spPr>
          <a:xfrm>
            <a:off x="987552" y="3858768"/>
            <a:ext cx="2377440" cy="50292"/>
          </a:xfrm>
          <a:prstGeom prst="rect">
            <a:avLst/>
          </a:prstGeom>
          <a:solidFill>
            <a:srgbClr val="2EE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24528"/>
            <a:ext cx="749807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FE3C4"/>
                </a:solidFill>
                <a:latin typeface="Noto Sans KR"/>
                <a:ea typeface="Noto Sans KR"/>
                <a:cs typeface="Noto Sans KR"/>
              </a:rPr>
              <a:t>DNA 유래 재생 과학을 담은 5세대 올인원 크림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FE3C4"/>
                </a:solidFill>
                <a:latin typeface="Noto Sans KR"/>
                <a:ea typeface="Noto Sans KR"/>
                <a:cs typeface="Noto Sans KR"/>
              </a:rPr>
              <a:t>PDRN CORE + 6 POWER COMPLEX, 한 병으로 완성하는 고농축 스킨케어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6235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3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LOVION</a:t>
            </a:r>
            <a:r>
              <a:rPr sz="1100">
                <a:solidFill>
                  <a:srgbClr val="8FA599"/>
                </a:solidFill>
                <a:latin typeface="Segoe UI"/>
                <a:ea typeface="Segoe UI"/>
                <a:cs typeface="Segoe UI"/>
              </a:rPr>
              <a:t>      Product Introduction  ·  Shelly for 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28431" y="1929384"/>
            <a:ext cx="3611880" cy="3279308"/>
          </a:xfrm>
          <a:prstGeom prst="rect">
            <a:avLst/>
          </a:prstGeom>
          <a:noFill/>
          <a:ln w="15875">
            <a:solidFill>
              <a:srgbClr val="2EE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p02_제품_보틀_대리석_꽃_934x8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1783080"/>
            <a:ext cx="3611880" cy="32793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596188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FA599"/>
                </a:solidFill>
                <a:latin typeface="Noto Sans KR"/>
                <a:ea typeface="Noto Sans KR"/>
                <a:cs typeface="Noto Sans KR"/>
              </a:rPr>
              <a:t>※ PDRN 전성분 표기명: 소듐디엔에이(Sodium DNA). 함량·유래는 제조사 확인 후 반영 예정.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03504"/>
            <a:ext cx="68580" cy="475488"/>
          </a:xfrm>
          <a:prstGeom prst="rect">
            <a:avLst/>
          </a:prstGeom>
          <a:solidFill>
            <a:srgbClr val="2EE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 spc="140">
                <a:solidFill>
                  <a:srgbClr val="142B22"/>
                </a:solidFill>
                <a:latin typeface="Segoe UI Light"/>
                <a:ea typeface="Segoe UI Light"/>
                <a:cs typeface="Segoe UI Light"/>
              </a:rPr>
              <a:t>Why PDRN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170432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40">
                <a:solidFill>
                  <a:srgbClr val="1C8F55"/>
                </a:solidFill>
                <a:latin typeface="Noto Sans KR"/>
                <a:ea typeface="Noto Sans KR"/>
                <a:cs typeface="Noto Sans KR"/>
              </a:rPr>
              <a:t>피부 재생 성분 시장의 중심, PDRN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965960"/>
            <a:ext cx="3493008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3493008" cy="68580"/>
          </a:xfrm>
          <a:prstGeom prst="rect">
            <a:avLst/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5" y="23042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240">
                <a:solidFill>
                  <a:srgbClr val="1C8F55"/>
                </a:solidFill>
                <a:latin typeface="Segoe UI"/>
                <a:ea typeface="Segoe UI"/>
                <a:cs typeface="Segoe UI"/>
              </a:rPr>
              <a:t>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5" y="2670048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42B22"/>
                </a:solidFill>
                <a:latin typeface="Noto Sans KR"/>
                <a:ea typeface="Noto Sans KR"/>
                <a:cs typeface="Noto Sans KR"/>
              </a:rPr>
              <a:t>시술에서 홈케어로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5" y="3310128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D74"/>
                </a:solidFill>
                <a:latin typeface="Noto Sans KR"/>
                <a:ea typeface="Noto Sans KR"/>
                <a:cs typeface="Noto Sans KR"/>
              </a:rPr>
              <a:t>재생·리페어 카테고리가 뷰티 시장의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D74"/>
                </a:solidFill>
                <a:latin typeface="Noto Sans KR"/>
                <a:ea typeface="Noto Sans KR"/>
                <a:cs typeface="Noto Sans KR"/>
              </a:rPr>
              <a:t>핵심 축으로 이동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D74"/>
                </a:solidFill>
                <a:latin typeface="Noto Sans KR"/>
                <a:ea typeface="Noto Sans KR"/>
                <a:cs typeface="Noto Sans KR"/>
              </a:rPr>
              <a:t>‘시술 후 홈케어’ 수요 지속 확대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65960"/>
            <a:ext cx="3493008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965960"/>
            <a:ext cx="3493008" cy="68580"/>
          </a:xfrm>
          <a:prstGeom prst="rect">
            <a:avLst/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3042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240">
                <a:solidFill>
                  <a:srgbClr val="1C8F55"/>
                </a:solidFill>
                <a:latin typeface="Segoe UI"/>
                <a:ea typeface="Segoe UI"/>
                <a:cs typeface="Segoe UI"/>
              </a:rPr>
              <a:t>CONSUMER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670048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42B22"/>
                </a:solidFill>
                <a:latin typeface="Noto Sans KR"/>
                <a:ea typeface="Noto Sans KR"/>
                <a:cs typeface="Noto Sans KR"/>
              </a:rPr>
              <a:t>성분을 검증하는 소비자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310128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D74"/>
                </a:solidFill>
                <a:latin typeface="Noto Sans KR"/>
                <a:ea typeface="Noto Sans KR"/>
                <a:cs typeface="Noto Sans KR"/>
              </a:rPr>
              <a:t>성분표를 직접 확인하고 비교하는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D74"/>
                </a:solidFill>
                <a:latin typeface="Noto Sans KR"/>
                <a:ea typeface="Noto Sans KR"/>
                <a:cs typeface="Noto Sans KR"/>
              </a:rPr>
              <a:t>성분 리터러시 세대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D74"/>
                </a:solidFill>
                <a:latin typeface="Noto Sans KR"/>
                <a:ea typeface="Noto Sans KR"/>
                <a:cs typeface="Noto Sans KR"/>
              </a:rPr>
              <a:t>‘무엇이 들었는지’가 구매 기준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1965960"/>
            <a:ext cx="3493008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2" y="1965960"/>
            <a:ext cx="3493008" cy="68580"/>
          </a:xfrm>
          <a:prstGeom prst="rect">
            <a:avLst/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3042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240">
                <a:solidFill>
                  <a:srgbClr val="1C8F55"/>
                </a:solidFill>
                <a:latin typeface="Segoe UI"/>
                <a:ea typeface="Segoe UI"/>
                <a:cs typeface="Segoe UI"/>
              </a:rPr>
              <a:t>BRAND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670048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42B22"/>
                </a:solidFill>
                <a:latin typeface="Noto Sans KR"/>
                <a:ea typeface="Noto Sans KR"/>
                <a:cs typeface="Noto Sans KR"/>
              </a:rPr>
              <a:t>과학으로 증명하는 브랜드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310128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D74"/>
                </a:solidFill>
                <a:latin typeface="Noto Sans KR"/>
                <a:ea typeface="Noto Sans KR"/>
                <a:cs typeface="Noto Sans KR"/>
              </a:rPr>
              <a:t>제약 기반 배합 기술력 +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D74"/>
                </a:solidFill>
                <a:latin typeface="Noto Sans KR"/>
                <a:ea typeface="Noto Sans KR"/>
                <a:cs typeface="Noto Sans KR"/>
              </a:rPr>
              <a:t>PDRN CORE 설계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D74"/>
                </a:solidFill>
                <a:latin typeface="Noto Sans KR"/>
                <a:ea typeface="Noto Sans KR"/>
                <a:cs typeface="Noto Sans KR"/>
              </a:rPr>
              <a:t>클린 사이언티픽 코스메틱 포지셔닝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828032"/>
            <a:ext cx="108813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047488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220">
                <a:solidFill>
                  <a:srgbClr val="1C8F55"/>
                </a:solidFill>
                <a:latin typeface="Segoe UI"/>
                <a:ea typeface="Segoe UI"/>
                <a:cs typeface="Segoe UI"/>
              </a:rPr>
              <a:t>KEY MESSAGE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32180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B22"/>
                </a:solidFill>
                <a:latin typeface="Noto Sans KR"/>
                <a:ea typeface="Noto Sans KR"/>
                <a:cs typeface="Noto Sans KR"/>
              </a:rPr>
              <a:t>“재생 성분 PDRN을 중심에 두고, 장벽·수분·마이크로바이옴까지 한 번에 잡는 올인원 설계.”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96188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D74"/>
                </a:solidFill>
                <a:latin typeface="Noto Sans KR"/>
                <a:ea typeface="Noto Sans KR"/>
                <a:cs typeface="Noto Sans KR"/>
              </a:rPr>
              <a:t>※ 시장 규모·성장률 등 수치 데이터는 확정된 출처 확인 후 삽입 예정 [DATA TBD]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25449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1C8F55"/>
                </a:solidFill>
                <a:latin typeface="Segoe UI"/>
                <a:ea typeface="Segoe UI"/>
                <a:cs typeface="Segoe UI"/>
              </a:rPr>
              <a:t>LOVION</a:t>
            </a:r>
            <a:r>
              <a:rPr sz="900" spc="120">
                <a:solidFill>
                  <a:srgbClr val="6B7D74"/>
                </a:solidFill>
                <a:latin typeface="Segoe UI"/>
                <a:ea typeface="Segoe UI"/>
                <a:cs typeface="Segoe UI"/>
              </a:rPr>
              <a:t>   GREENCELL BIOME-7™  ALL-IN-ONE CREAM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8695" y="62910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D74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0" y="0"/>
            <a:ext cx="6156655" cy="6858000"/>
          </a:xfrm>
          <a:prstGeom prst="rect">
            <a:avLst/>
          </a:prstGeom>
          <a:solidFill>
            <a:srgbClr val="0C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603504"/>
            <a:ext cx="68580" cy="475488"/>
          </a:xfrm>
          <a:prstGeom prst="rect">
            <a:avLst/>
          </a:prstGeom>
          <a:solidFill>
            <a:srgbClr val="2EE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66928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 spc="140"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What is PDRN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170432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40">
                <a:solidFill>
                  <a:srgbClr val="8FE3C4"/>
                </a:solidFill>
                <a:latin typeface="Noto Sans KR"/>
                <a:ea typeface="Noto Sans KR"/>
                <a:cs typeface="Noto Sans KR"/>
              </a:rPr>
              <a:t>폴리데옥시리보뉴클레오타이드 — 자연 유래 DNA 단편 복합체</a:t>
            </a:r>
          </a:p>
        </p:txBody>
      </p:sp>
      <p:sp>
        <p:nvSpPr>
          <p:cNvPr id="6" name="Rectangle 5"/>
          <p:cNvSpPr/>
          <p:nvPr/>
        </p:nvSpPr>
        <p:spPr>
          <a:xfrm>
            <a:off x="6867144" y="2295144"/>
            <a:ext cx="4663440" cy="3129263"/>
          </a:xfrm>
          <a:prstGeom prst="rect">
            <a:avLst/>
          </a:prstGeom>
          <a:noFill/>
          <a:ln w="15875">
            <a:solidFill>
              <a:srgbClr val="2EE8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" name="Picture 6" descr="p23_제품_보틀_실험실_1225x8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48840"/>
            <a:ext cx="4663440" cy="312926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20840" y="5522976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140">
                <a:solidFill>
                  <a:srgbClr val="8FA599"/>
                </a:solidFill>
                <a:latin typeface="Segoe UI"/>
                <a:ea typeface="Segoe UI"/>
                <a:cs typeface="Segoe UI"/>
              </a:rPr>
              <a:t>GREENCELL BIOME-7™  ·  Formulation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PDRN은 살아 있는 세포에서 추출한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저분자 DNA 단편의 혼합물로,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피부가 스스로 회복하는 과정에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필요한 뉴클레오타이드를 공급합니다.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538727"/>
            <a:ext cx="50292" cy="457200"/>
          </a:xfrm>
          <a:prstGeom prst="rect">
            <a:avLst/>
          </a:prstGeom>
          <a:solidFill>
            <a:srgbClr val="2EE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4930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FE3C4"/>
                </a:solidFill>
                <a:latin typeface="Noto Sans KR"/>
                <a:ea typeface="Noto Sans KR"/>
                <a:cs typeface="Noto Sans KR"/>
              </a:rPr>
              <a:t>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3465576"/>
            <a:ext cx="37490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Polydeoxyribonucleotide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3739896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FA599"/>
                </a:solidFill>
                <a:latin typeface="Noto Sans KR"/>
                <a:ea typeface="Noto Sans KR"/>
                <a:cs typeface="Noto Sans KR"/>
              </a:rPr>
              <a:t>저분자 DNA 단편 복합체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142231"/>
            <a:ext cx="50292" cy="457200"/>
          </a:xfrm>
          <a:prstGeom prst="rect">
            <a:avLst/>
          </a:prstGeom>
          <a:solidFill>
            <a:srgbClr val="2EE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096511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FE3C4"/>
                </a:solidFill>
                <a:latin typeface="Noto Sans KR"/>
                <a:ea typeface="Noto Sans KR"/>
                <a:cs typeface="Noto Sans KR"/>
              </a:rPr>
              <a:t>구성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069079"/>
            <a:ext cx="37490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Nucleotide / Nucleoside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434340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FA599"/>
                </a:solidFill>
                <a:latin typeface="Noto Sans KR"/>
                <a:ea typeface="Noto Sans KR"/>
                <a:cs typeface="Noto Sans KR"/>
              </a:rPr>
              <a:t>아데노신 등 활성 단위 포함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4745736"/>
            <a:ext cx="50292" cy="457200"/>
          </a:xfrm>
          <a:prstGeom prst="rect">
            <a:avLst/>
          </a:prstGeom>
          <a:solidFill>
            <a:srgbClr val="2EE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70001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FE3C4"/>
                </a:solidFill>
                <a:latin typeface="Noto Sans KR"/>
                <a:ea typeface="Noto Sans KR"/>
                <a:cs typeface="Noto Sans KR"/>
              </a:rPr>
              <a:t>유래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672583"/>
            <a:ext cx="37490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[확인 중]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4946904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FA599"/>
                </a:solidFill>
                <a:latin typeface="Noto Sans KR"/>
                <a:ea typeface="Noto Sans KR"/>
                <a:cs typeface="Noto Sans KR"/>
              </a:rPr>
              <a:t>원료 규격서 확인 후 확정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5349240"/>
            <a:ext cx="50292" cy="457200"/>
          </a:xfrm>
          <a:prstGeom prst="rect">
            <a:avLst/>
          </a:prstGeom>
          <a:solidFill>
            <a:srgbClr val="2EE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303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FE3C4"/>
                </a:solidFill>
                <a:latin typeface="Noto Sans KR"/>
                <a:ea typeface="Noto Sans KR"/>
                <a:cs typeface="Noto Sans KR"/>
              </a:rPr>
              <a:t>특징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5276088"/>
            <a:ext cx="37490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저자극 · 고안정 뉴클레오타이드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5550408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FA599"/>
                </a:solidFill>
                <a:latin typeface="Noto Sans KR"/>
                <a:ea typeface="Noto Sans KR"/>
                <a:cs typeface="Noto Sans KR"/>
              </a:rPr>
              <a:t>장기 사용에 적합한 프로파일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96188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FA599"/>
                </a:solidFill>
                <a:latin typeface="Noto Sans KR"/>
                <a:ea typeface="Noto Sans KR"/>
                <a:cs typeface="Noto Sans KR"/>
              </a:rPr>
              <a:t>※ PDRN의 전성분 표기명은 소듐디엔에이(Sodium DNA)입니다.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25449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2EE87F"/>
                </a:solidFill>
                <a:latin typeface="Segoe UI"/>
                <a:ea typeface="Segoe UI"/>
                <a:cs typeface="Segoe UI"/>
              </a:rPr>
              <a:t>LOVION</a:t>
            </a:r>
            <a:r>
              <a:rPr sz="900" spc="120">
                <a:solidFill>
                  <a:srgbClr val="8FA599"/>
                </a:solidFill>
                <a:latin typeface="Segoe UI"/>
                <a:ea typeface="Segoe UI"/>
                <a:cs typeface="Segoe UI"/>
              </a:rPr>
              <a:t>   GREENCELL BIOME-7™  ALL-IN-ONE CREAM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8695" y="62910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FA599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03504"/>
            <a:ext cx="68580" cy="475488"/>
          </a:xfrm>
          <a:prstGeom prst="rect">
            <a:avLst/>
          </a:prstGeom>
          <a:solidFill>
            <a:srgbClr val="2EE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 spc="140"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How PDRN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170432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40">
                <a:solidFill>
                  <a:srgbClr val="8FE3C4"/>
                </a:solidFill>
                <a:latin typeface="Noto Sans KR"/>
                <a:ea typeface="Noto Sans KR"/>
                <a:cs typeface="Noto Sans KR"/>
              </a:rPr>
              <a:t>A2A 수용체를 통한 4가지 작용 메커니즘 (원료 학술자료 기준)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938528"/>
            <a:ext cx="7260336" cy="3310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p12_PDRN_작용기전_도식_885x3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212848"/>
            <a:ext cx="6949440" cy="29446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534924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FA599"/>
                </a:solidFill>
                <a:latin typeface="Noto Sans KR"/>
                <a:ea typeface="Noto Sans KR"/>
                <a:cs typeface="Noto Sans KR"/>
              </a:rPr>
              <a:t>PDRN 작용 기전 도판 — 원료 학술자료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556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20">
                <a:solidFill>
                  <a:srgbClr val="2EE87F"/>
                </a:solidFill>
                <a:latin typeface="Segoe UI"/>
                <a:ea typeface="Segoe UI"/>
                <a:cs typeface="Segoe UI"/>
              </a:rPr>
              <a:t>4 KEY MECHANISMS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2212848"/>
            <a:ext cx="45720" cy="603504"/>
          </a:xfrm>
          <a:prstGeom prst="rect">
            <a:avLst/>
          </a:prstGeom>
          <a:solidFill>
            <a:srgbClr val="2EE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21579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E87F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3648" y="217627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항염 밸런싱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505456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FE3C4"/>
                </a:solidFill>
                <a:latin typeface="Noto Sans KR"/>
                <a:ea typeface="Noto Sans KR"/>
                <a:cs typeface="Noto Sans KR"/>
              </a:rPr>
              <a:t>TNF-α·IL-6 신호는 낮추고 IL-10 활성은 높이는 방향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2999232"/>
            <a:ext cx="45720" cy="603504"/>
          </a:xfrm>
          <a:prstGeom prst="rect">
            <a:avLst/>
          </a:prstGeom>
          <a:solidFill>
            <a:srgbClr val="2EE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29443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E87F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3648" y="296265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혈관 확장 · 순환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3291839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FE3C4"/>
                </a:solidFill>
                <a:latin typeface="Noto Sans KR"/>
                <a:ea typeface="Noto Sans KR"/>
                <a:cs typeface="Noto Sans KR"/>
              </a:rPr>
              <a:t>VEGF 분비 촉진으로 미세순환·영양 공급 경로 활성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3785615"/>
            <a:ext cx="45720" cy="603504"/>
          </a:xfrm>
          <a:prstGeom prst="rect">
            <a:avLst/>
          </a:prstGeom>
          <a:solidFill>
            <a:srgbClr val="2EE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37307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E87F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3648" y="3749039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성장인자 시너지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4078224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FE3C4"/>
                </a:solidFill>
                <a:latin typeface="Noto Sans KR"/>
                <a:ea typeface="Noto Sans KR"/>
                <a:cs typeface="Noto Sans KR"/>
              </a:rPr>
              <a:t>EGF·FGF·IGF 분비를 도와 피부 세포 활동 뒷받침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4572000"/>
            <a:ext cx="45720" cy="603504"/>
          </a:xfrm>
          <a:prstGeom prst="rect">
            <a:avLst/>
          </a:prstGeom>
          <a:solidFill>
            <a:srgbClr val="2EE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45171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E87F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3648" y="453542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DNA 합성 살베이지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4864608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FE3C4"/>
                </a:solidFill>
                <a:latin typeface="Noto Sans KR"/>
                <a:ea typeface="Noto Sans KR"/>
                <a:cs typeface="Noto Sans KR"/>
              </a:rPr>
              <a:t>우회 경로 활성화로 적은 에너지로 세포 재생 유도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96188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FA599"/>
                </a:solidFill>
                <a:latin typeface="Noto Sans KR"/>
                <a:ea typeface="Noto Sans KR"/>
                <a:cs typeface="Noto Sans KR"/>
              </a:rPr>
              <a:t>※ 상기 내용은 PDRN 원료에 대한 일반 학술자료를 요약한 설명으로, 완제품의 의학적 효능·효과를 의미하지 않습니다.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25449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2EE87F"/>
                </a:solidFill>
                <a:latin typeface="Segoe UI"/>
                <a:ea typeface="Segoe UI"/>
                <a:cs typeface="Segoe UI"/>
              </a:rPr>
              <a:t>LOVION</a:t>
            </a:r>
            <a:r>
              <a:rPr sz="900" spc="120">
                <a:solidFill>
                  <a:srgbClr val="8FA599"/>
                </a:solidFill>
                <a:latin typeface="Segoe UI"/>
                <a:ea typeface="Segoe UI"/>
                <a:cs typeface="Segoe UI"/>
              </a:rPr>
              <a:t>   GREENCELL BIOME-7™  ALL-IN-ONE CREAM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48695" y="62910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FA599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03504"/>
            <a:ext cx="68580" cy="475488"/>
          </a:xfrm>
          <a:prstGeom prst="rect">
            <a:avLst/>
          </a:prstGeom>
          <a:solidFill>
            <a:srgbClr val="2EE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 spc="140">
                <a:solidFill>
                  <a:srgbClr val="142B22"/>
                </a:solidFill>
                <a:latin typeface="Segoe UI Light"/>
                <a:ea typeface="Segoe UI Light"/>
                <a:cs typeface="Segoe UI Light"/>
              </a:rPr>
              <a:t>Expected Skin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170432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40">
                <a:solidFill>
                  <a:srgbClr val="1C8F55"/>
                </a:solidFill>
                <a:latin typeface="Noto Sans KR"/>
                <a:ea typeface="Noto Sans KR"/>
                <a:cs typeface="Noto Sans KR"/>
              </a:rPr>
              <a:t>PDRN CORE 설계가 향하는 피부 변화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938528"/>
            <a:ext cx="1088136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084832"/>
            <a:ext cx="960120" cy="420624"/>
          </a:xfrm>
          <a:prstGeom prst="roundRect">
            <a:avLst>
              <a:gd name="adj" fmla="val 50000"/>
            </a:avLst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진정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112264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B22"/>
                </a:solidFill>
                <a:latin typeface="Noto Sans KR"/>
                <a:ea typeface="Noto Sans KR"/>
                <a:cs typeface="Noto Sans KR"/>
              </a:rPr>
              <a:t>예민해진 피부를 편안하게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214884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D74"/>
                </a:solidFill>
                <a:latin typeface="Noto Sans KR"/>
                <a:ea typeface="Noto Sans KR"/>
                <a:cs typeface="Noto Sans KR"/>
              </a:rPr>
              <a:t>자극 후 붉은 기와 당김을 진정시키는 저자극 설계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761488"/>
            <a:ext cx="10881360" cy="713232"/>
          </a:xfrm>
          <a:prstGeom prst="roundRect">
            <a:avLst>
              <a:gd name="adj" fmla="val 18000"/>
            </a:avLst>
          </a:prstGeom>
          <a:solidFill>
            <a:srgbClr val="F7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2907792"/>
            <a:ext cx="960120" cy="420624"/>
          </a:xfrm>
          <a:prstGeom prst="roundRect">
            <a:avLst>
              <a:gd name="adj" fmla="val 50000"/>
            </a:avLst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장벽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935224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B22"/>
                </a:solidFill>
                <a:latin typeface="Noto Sans KR"/>
                <a:ea typeface="Noto Sans KR"/>
                <a:cs typeface="Noto Sans KR"/>
              </a:rPr>
              <a:t>속부터 단단해지는 피부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9718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D74"/>
                </a:solidFill>
                <a:latin typeface="Noto Sans KR"/>
                <a:ea typeface="Noto Sans KR"/>
                <a:cs typeface="Noto Sans KR"/>
              </a:rPr>
              <a:t>세라마이드 복합체와 함께 무너진 장벽을 채워줌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584448"/>
            <a:ext cx="1088136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3730752"/>
            <a:ext cx="960120" cy="420624"/>
          </a:xfrm>
          <a:prstGeom prst="roundRect">
            <a:avLst>
              <a:gd name="adj" fmla="val 50000"/>
            </a:avLst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탄력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758184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B22"/>
                </a:solidFill>
                <a:latin typeface="Noto Sans KR"/>
                <a:ea typeface="Noto Sans KR"/>
                <a:cs typeface="Noto Sans KR"/>
              </a:rPr>
              <a:t>밀도가 느껴지는 피부결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379476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D74"/>
                </a:solidFill>
                <a:latin typeface="Noto Sans KR"/>
                <a:ea typeface="Noto Sans KR"/>
                <a:cs typeface="Noto Sans KR"/>
              </a:rPr>
              <a:t>5GF 나노좀과의 조합으로 탄탄한 볼륨감 서포트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407408"/>
            <a:ext cx="10881360" cy="713232"/>
          </a:xfrm>
          <a:prstGeom prst="roundRect">
            <a:avLst>
              <a:gd name="adj" fmla="val 18000"/>
            </a:avLst>
          </a:prstGeom>
          <a:solidFill>
            <a:srgbClr val="F7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4553712"/>
            <a:ext cx="960120" cy="420624"/>
          </a:xfrm>
          <a:prstGeom prst="roundRect">
            <a:avLst>
              <a:gd name="adj" fmla="val 50000"/>
            </a:avLst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581144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B22"/>
                </a:solidFill>
                <a:latin typeface="Noto Sans KR"/>
                <a:ea typeface="Noto Sans KR"/>
                <a:cs typeface="Noto Sans KR"/>
              </a:rPr>
              <a:t>속건조 없는 촉촉함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461772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D74"/>
                </a:solidFill>
                <a:latin typeface="Noto Sans KR"/>
                <a:ea typeface="Noto Sans KR"/>
                <a:cs typeface="Noto Sans KR"/>
              </a:rPr>
              <a:t>8중 히알루론산으로 층층이 수분 레이어링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230368"/>
            <a:ext cx="1088136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" y="5376672"/>
            <a:ext cx="960120" cy="420624"/>
          </a:xfrm>
          <a:prstGeom prst="roundRect">
            <a:avLst>
              <a:gd name="adj" fmla="val 50000"/>
            </a:avLst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밸런스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5404104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B22"/>
                </a:solidFill>
                <a:latin typeface="Noto Sans KR"/>
                <a:ea typeface="Noto Sans KR"/>
                <a:cs typeface="Noto Sans KR"/>
              </a:rPr>
              <a:t>건강한 피부 환경 유지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544068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D74"/>
                </a:solidFill>
                <a:latin typeface="Noto Sans KR"/>
                <a:ea typeface="Noto Sans KR"/>
                <a:cs typeface="Noto Sans KR"/>
              </a:rPr>
              <a:t>마이크로바이옴 3종으로 유익균 밸런스 관리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96188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D74"/>
                </a:solidFill>
                <a:latin typeface="Noto Sans KR"/>
                <a:ea typeface="Noto Sans KR"/>
                <a:cs typeface="Noto Sans KR"/>
              </a:rPr>
              <a:t>※ 화장품 표시·광고 범위 내 표현입니다. 의약품적 효능(치료·재생 등) 표현은 사용하지 않습니다.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25449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1C8F55"/>
                </a:solidFill>
                <a:latin typeface="Segoe UI"/>
                <a:ea typeface="Segoe UI"/>
                <a:cs typeface="Segoe UI"/>
              </a:rPr>
              <a:t>LOVION</a:t>
            </a:r>
            <a:r>
              <a:rPr sz="900" spc="120">
                <a:solidFill>
                  <a:srgbClr val="6B7D74"/>
                </a:solidFill>
                <a:latin typeface="Segoe UI"/>
                <a:ea typeface="Segoe UI"/>
                <a:cs typeface="Segoe UI"/>
              </a:rPr>
              <a:t>   GREENCELL BIOME-7™  ALL-IN-ONE CREAM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8695" y="62910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FA599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A20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603504"/>
            <a:ext cx="68580" cy="475488"/>
          </a:xfrm>
          <a:prstGeom prst="rect">
            <a:avLst/>
          </a:prstGeom>
          <a:solidFill>
            <a:srgbClr val="2EE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66928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 spc="140"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PDRN CORE + 6 Complex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170432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40">
                <a:solidFill>
                  <a:srgbClr val="8FE3C4"/>
                </a:solidFill>
                <a:latin typeface="Noto Sans KR"/>
                <a:ea typeface="Noto Sans KR"/>
                <a:cs typeface="Noto Sans KR"/>
              </a:rPr>
              <a:t>PDRN을 중심에 둔 골든 레이시오 배합 구조</a:t>
            </a:r>
          </a:p>
        </p:txBody>
      </p:sp>
      <p:sp>
        <p:nvSpPr>
          <p:cNvPr id="6" name="Oval 5"/>
          <p:cNvSpPr/>
          <p:nvPr/>
        </p:nvSpPr>
        <p:spPr>
          <a:xfrm>
            <a:off x="4700016" y="2331720"/>
            <a:ext cx="2788920" cy="2788920"/>
          </a:xfrm>
          <a:prstGeom prst="ellipse">
            <a:avLst/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spc="15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PDRN</a:t>
            </a:r>
          </a:p>
          <a:p>
            <a:pPr algn="ctr"/>
            <a:r>
              <a:rPr sz="1200" spc="300">
                <a:solidFill>
                  <a:srgbClr val="8FE3C4"/>
                </a:solidFill>
                <a:latin typeface="Segoe UI"/>
                <a:ea typeface="Segoe UI"/>
                <a:cs typeface="Segoe UI"/>
              </a:rPr>
              <a:t>CORE</a:t>
            </a:r>
          </a:p>
        </p:txBody>
      </p:sp>
      <p:sp>
        <p:nvSpPr>
          <p:cNvPr id="7" name="Oval 6"/>
          <p:cNvSpPr/>
          <p:nvPr/>
        </p:nvSpPr>
        <p:spPr>
          <a:xfrm>
            <a:off x="4425696" y="2057400"/>
            <a:ext cx="3337560" cy="3337560"/>
          </a:xfrm>
          <a:prstGeom prst="ellipse">
            <a:avLst/>
          </a:prstGeom>
          <a:solidFill>
            <a:srgbClr val="2EE87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5212080"/>
            <a:ext cx="4160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재생 시그널의 중심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029968"/>
            <a:ext cx="3703320" cy="1060704"/>
          </a:xfrm>
          <a:prstGeom prst="roundRect">
            <a:avLst>
              <a:gd name="adj" fmla="val 9000"/>
            </a:avLst>
          </a:prstGeom>
          <a:solidFill>
            <a:srgbClr val="103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139696"/>
            <a:ext cx="50292" cy="841248"/>
          </a:xfrm>
          <a:prstGeom prst="rect">
            <a:avLst/>
          </a:prstGeom>
          <a:solidFill>
            <a:srgbClr val="2EE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176272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2EE87F"/>
                </a:solidFill>
                <a:latin typeface="Segoe UI"/>
                <a:ea typeface="Segoe UI"/>
                <a:cs typeface="Segoe UI"/>
              </a:rPr>
              <a:t>5GF NANOSOME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43230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성장인자 5종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7432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FA599"/>
                </a:solidFill>
                <a:latin typeface="Noto Sans KR"/>
                <a:ea typeface="Noto Sans KR"/>
                <a:cs typeface="Noto Sans KR"/>
              </a:rPr>
              <a:t>sh-Oligopeptide-1·2 / sh-Polypeptide-1·3·16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7408" y="2532888"/>
            <a:ext cx="310896" cy="27432"/>
          </a:xfrm>
          <a:prstGeom prst="rect">
            <a:avLst/>
          </a:prstGeom>
          <a:solidFill>
            <a:srgbClr val="2EE87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3236976"/>
            <a:ext cx="3703320" cy="1060704"/>
          </a:xfrm>
          <a:prstGeom prst="roundRect">
            <a:avLst>
              <a:gd name="adj" fmla="val 9000"/>
            </a:avLst>
          </a:prstGeom>
          <a:solidFill>
            <a:srgbClr val="103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346704"/>
            <a:ext cx="50292" cy="841248"/>
          </a:xfrm>
          <a:prstGeom prst="rect">
            <a:avLst/>
          </a:prstGeom>
          <a:solidFill>
            <a:srgbClr val="2EE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38328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2EE87F"/>
                </a:solidFill>
                <a:latin typeface="Segoe UI"/>
                <a:ea typeface="Segoe UI"/>
                <a:cs typeface="Segoe UI"/>
              </a:rPr>
              <a:t>8-FOLD 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63931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8중 히알루론산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95020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FA599"/>
                </a:solidFill>
                <a:latin typeface="Noto Sans KR"/>
                <a:ea typeface="Noto Sans KR"/>
                <a:cs typeface="Noto Sans KR"/>
              </a:rPr>
              <a:t>저분자~고분자 수분 레이어링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7408" y="3739896"/>
            <a:ext cx="310896" cy="27432"/>
          </a:xfrm>
          <a:prstGeom prst="rect">
            <a:avLst/>
          </a:prstGeom>
          <a:solidFill>
            <a:srgbClr val="2EE87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4443984"/>
            <a:ext cx="3703320" cy="1060704"/>
          </a:xfrm>
          <a:prstGeom prst="roundRect">
            <a:avLst>
              <a:gd name="adj" fmla="val 9000"/>
            </a:avLst>
          </a:prstGeom>
          <a:solidFill>
            <a:srgbClr val="103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553712"/>
            <a:ext cx="50292" cy="841248"/>
          </a:xfrm>
          <a:prstGeom prst="rect">
            <a:avLst/>
          </a:prstGeom>
          <a:solidFill>
            <a:srgbClr val="2EE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5902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2EE87F"/>
                </a:solidFill>
                <a:latin typeface="Segoe UI"/>
                <a:ea typeface="Segoe UI"/>
                <a:cs typeface="Segoe UI"/>
              </a:rPr>
              <a:t>CERAMIDE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8463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복합 세라마이드 NP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5157216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FA599"/>
                </a:solidFill>
                <a:latin typeface="Noto Sans KR"/>
                <a:ea typeface="Noto Sans KR"/>
                <a:cs typeface="Noto Sans KR"/>
              </a:rPr>
              <a:t>AS·NS·AP·EOP·NG·EOS 장벽 강화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07408" y="4946904"/>
            <a:ext cx="310896" cy="27432"/>
          </a:xfrm>
          <a:prstGeom prst="rect">
            <a:avLst/>
          </a:prstGeom>
          <a:solidFill>
            <a:srgbClr val="2EE87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827264" y="2029968"/>
            <a:ext cx="3703320" cy="1060704"/>
          </a:xfrm>
          <a:prstGeom prst="roundRect">
            <a:avLst>
              <a:gd name="adj" fmla="val 9000"/>
            </a:avLst>
          </a:prstGeom>
          <a:solidFill>
            <a:srgbClr val="103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80292" y="2139696"/>
            <a:ext cx="50292" cy="841248"/>
          </a:xfrm>
          <a:prstGeom prst="rect">
            <a:avLst/>
          </a:prstGeom>
          <a:solidFill>
            <a:srgbClr val="2EE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65008" y="2176272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2EE87F"/>
                </a:solidFill>
                <a:latin typeface="Segoe UI"/>
                <a:ea typeface="Segoe UI"/>
                <a:cs typeface="Segoe UI"/>
              </a:rPr>
              <a:t>MICROBIOME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8" y="243230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마이크로바이옴 3종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8" y="27432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FA599"/>
                </a:solidFill>
                <a:latin typeface="Noto Sans KR"/>
                <a:ea typeface="Noto Sans KR"/>
                <a:cs typeface="Noto Sans KR"/>
              </a:rPr>
              <a:t>비피다·락토바실러스·스트렙토코쿠스 발효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70648" y="2532888"/>
            <a:ext cx="310896" cy="27432"/>
          </a:xfrm>
          <a:prstGeom prst="rect">
            <a:avLst/>
          </a:prstGeom>
          <a:solidFill>
            <a:srgbClr val="2EE87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827264" y="3236976"/>
            <a:ext cx="3703320" cy="1060704"/>
          </a:xfrm>
          <a:prstGeom prst="roundRect">
            <a:avLst>
              <a:gd name="adj" fmla="val 9000"/>
            </a:avLst>
          </a:prstGeom>
          <a:solidFill>
            <a:srgbClr val="103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80292" y="3346704"/>
            <a:ext cx="50292" cy="841248"/>
          </a:xfrm>
          <a:prstGeom prst="rect">
            <a:avLst/>
          </a:prstGeom>
          <a:solidFill>
            <a:srgbClr val="2EE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65008" y="338328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2EE87F"/>
                </a:solidFill>
                <a:latin typeface="Segoe UI"/>
                <a:ea typeface="Segoe UI"/>
                <a:cs typeface="Segoe UI"/>
              </a:rPr>
              <a:t>PLANT STEM CELL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65008" y="363931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식물줄기세포 배양액 5종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65008" y="395020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FA599"/>
                </a:solidFill>
                <a:latin typeface="Noto Sans KR"/>
                <a:ea typeface="Noto Sans KR"/>
                <a:cs typeface="Noto Sans KR"/>
              </a:rPr>
              <a:t>캘러스 배양 추출물 기반 활력 부여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70648" y="3739896"/>
            <a:ext cx="310896" cy="27432"/>
          </a:xfrm>
          <a:prstGeom prst="rect">
            <a:avLst/>
          </a:prstGeom>
          <a:solidFill>
            <a:srgbClr val="2EE87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827264" y="4443984"/>
            <a:ext cx="3703320" cy="1060704"/>
          </a:xfrm>
          <a:prstGeom prst="roundRect">
            <a:avLst>
              <a:gd name="adj" fmla="val 9000"/>
            </a:avLst>
          </a:prstGeom>
          <a:solidFill>
            <a:srgbClr val="103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80292" y="4553712"/>
            <a:ext cx="50292" cy="841248"/>
          </a:xfrm>
          <a:prstGeom prst="rect">
            <a:avLst/>
          </a:prstGeom>
          <a:solidFill>
            <a:srgbClr val="2EE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65008" y="45902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2EE87F"/>
                </a:solidFill>
                <a:latin typeface="Segoe UI"/>
                <a:ea typeface="Segoe UI"/>
                <a:cs typeface="Segoe UI"/>
              </a:rPr>
              <a:t>PEPTIDE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65008" y="48463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펩타이드 5종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65008" y="5157216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FA599"/>
                </a:solidFill>
                <a:latin typeface="Noto Sans KR"/>
                <a:ea typeface="Noto Sans KR"/>
                <a:cs typeface="Noto Sans KR"/>
              </a:rPr>
              <a:t>피부 구성 단백질 유사 구조로 탄력 서포트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70648" y="4946904"/>
            <a:ext cx="310896" cy="27432"/>
          </a:xfrm>
          <a:prstGeom prst="rect">
            <a:avLst/>
          </a:prstGeom>
          <a:solidFill>
            <a:srgbClr val="2EE87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23360" y="5614416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260">
                <a:solidFill>
                  <a:srgbClr val="8FE3C4"/>
                </a:solidFill>
                <a:latin typeface="Segoe UI"/>
                <a:ea typeface="Segoe UI"/>
                <a:cs typeface="Segoe UI"/>
              </a:rPr>
              <a:t>GOLDEN RATIO FORMULATION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596188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FA599"/>
                </a:solidFill>
                <a:latin typeface="Noto Sans KR"/>
                <a:ea typeface="Noto Sans KR"/>
                <a:cs typeface="Noto Sans KR"/>
              </a:rPr>
              <a:t>※ PDRN 전성분 표기명: 소듐디엔에이(Sodium DNA). 함량은 제조사 확인 후 표기 예정.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25449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2EE87F"/>
                </a:solidFill>
                <a:latin typeface="Segoe UI"/>
                <a:ea typeface="Segoe UI"/>
                <a:cs typeface="Segoe UI"/>
              </a:rPr>
              <a:t>LOVION</a:t>
            </a:r>
            <a:r>
              <a:rPr sz="900" spc="120">
                <a:solidFill>
                  <a:srgbClr val="8FA599"/>
                </a:solidFill>
                <a:latin typeface="Segoe UI"/>
                <a:ea typeface="Segoe UI"/>
                <a:cs typeface="Segoe UI"/>
              </a:rPr>
              <a:t>   GREENCELL BIOME-7™  ALL-IN-ONE CREAM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48695" y="62910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FA599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03504"/>
            <a:ext cx="68580" cy="475488"/>
          </a:xfrm>
          <a:prstGeom prst="rect">
            <a:avLst/>
          </a:prstGeom>
          <a:solidFill>
            <a:srgbClr val="2EE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 spc="140">
                <a:solidFill>
                  <a:srgbClr val="142B22"/>
                </a:solidFill>
                <a:latin typeface="Segoe UI Light"/>
                <a:ea typeface="Segoe UI Light"/>
                <a:cs typeface="Segoe UI Light"/>
              </a:rPr>
              <a:t>Synergy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170432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40">
                <a:solidFill>
                  <a:srgbClr val="1C8F55"/>
                </a:solidFill>
                <a:latin typeface="Noto Sans KR"/>
                <a:ea typeface="Noto Sans KR"/>
                <a:cs typeface="Noto Sans KR"/>
              </a:rPr>
              <a:t>PDRN이 켜고, 6가지 콤플렉스가 완성하는 4단계 케어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2542032" cy="2606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2542032" cy="68580"/>
          </a:xfrm>
          <a:prstGeom prst="rect">
            <a:avLst/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33172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0">
                <a:solidFill>
                  <a:srgbClr val="1C8F55"/>
                </a:solidFill>
                <a:latin typeface="Segoe UI"/>
                <a:ea typeface="Segoe UI"/>
                <a:cs typeface="Segoe UI"/>
              </a:rPr>
              <a:t>STEP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63347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spc="80">
                <a:solidFill>
                  <a:srgbClr val="142B22"/>
                </a:solidFill>
                <a:latin typeface="Segoe UI Light"/>
                <a:ea typeface="Segoe UI Light"/>
                <a:cs typeface="Segoe UI Light"/>
              </a:rPr>
              <a:t>SIGNAL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" y="3182112"/>
            <a:ext cx="777240" cy="41148"/>
          </a:xfrm>
          <a:prstGeom prst="rect">
            <a:avLst/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40156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8F55"/>
                </a:solidFill>
                <a:latin typeface="Noto Sans KR"/>
                <a:ea typeface="Noto Sans KR"/>
                <a:cs typeface="Noto Sans KR"/>
              </a:rPr>
              <a:t>PDRN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822191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D74"/>
                </a:solidFill>
                <a:latin typeface="Noto Sans KR"/>
                <a:ea typeface="Noto Sans KR"/>
                <a:cs typeface="Noto Sans KR"/>
              </a:rPr>
              <a:t>재생 시그널을 깨우는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D74"/>
                </a:solidFill>
                <a:latin typeface="Noto Sans KR"/>
                <a:ea typeface="Noto Sans KR"/>
                <a:cs typeface="Noto Sans KR"/>
              </a:rPr>
              <a:t>뉴클레오타이드 공급</a:t>
            </a:r>
          </a:p>
        </p:txBody>
      </p:sp>
      <p:sp>
        <p:nvSpPr>
          <p:cNvPr id="13" name="Chevron 12"/>
          <p:cNvSpPr/>
          <p:nvPr/>
        </p:nvSpPr>
        <p:spPr>
          <a:xfrm>
            <a:off x="3250692" y="3127248"/>
            <a:ext cx="329184" cy="365760"/>
          </a:xfrm>
          <a:prstGeom prst="chevron">
            <a:avLst/>
          </a:prstGeom>
          <a:solidFill>
            <a:srgbClr val="1C8F55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30168" y="2011680"/>
            <a:ext cx="2542032" cy="2606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0168" y="2011680"/>
            <a:ext cx="2542032" cy="68580"/>
          </a:xfrm>
          <a:prstGeom prst="rect">
            <a:avLst/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22776" y="233172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0">
                <a:solidFill>
                  <a:srgbClr val="1C8F55"/>
                </a:solidFill>
                <a:latin typeface="Segoe UI"/>
                <a:ea typeface="Segoe UI"/>
                <a:cs typeface="Segoe UI"/>
              </a:rPr>
              <a:t>STEP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22776" y="263347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spc="80">
                <a:solidFill>
                  <a:srgbClr val="142B22"/>
                </a:solidFill>
                <a:latin typeface="Segoe UI Light"/>
                <a:ea typeface="Segoe UI Light"/>
                <a:cs typeface="Segoe UI Light"/>
              </a:rPr>
              <a:t>AMPLIFY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41063" y="3182112"/>
            <a:ext cx="777240" cy="41148"/>
          </a:xfrm>
          <a:prstGeom prst="rect">
            <a:avLst/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22776" y="340156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8F55"/>
                </a:solidFill>
                <a:latin typeface="Noto Sans KR"/>
                <a:ea typeface="Noto Sans KR"/>
                <a:cs typeface="Noto Sans KR"/>
              </a:rPr>
              <a:t>5GF · 펩타이드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22776" y="3822191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D74"/>
                </a:solidFill>
                <a:latin typeface="Noto Sans KR"/>
                <a:ea typeface="Noto Sans KR"/>
                <a:cs typeface="Noto Sans KR"/>
              </a:rPr>
              <a:t>성장인자·펩타이드로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D74"/>
                </a:solidFill>
                <a:latin typeface="Noto Sans KR"/>
                <a:ea typeface="Noto Sans KR"/>
                <a:cs typeface="Noto Sans KR"/>
              </a:rPr>
              <a:t>탄력과 밀도 신호 증폭</a:t>
            </a:r>
          </a:p>
        </p:txBody>
      </p:sp>
      <p:sp>
        <p:nvSpPr>
          <p:cNvPr id="21" name="Chevron 20"/>
          <p:cNvSpPr/>
          <p:nvPr/>
        </p:nvSpPr>
        <p:spPr>
          <a:xfrm>
            <a:off x="6222492" y="3127248"/>
            <a:ext cx="329184" cy="365760"/>
          </a:xfrm>
          <a:prstGeom prst="chevron">
            <a:avLst/>
          </a:prstGeom>
          <a:solidFill>
            <a:srgbClr val="1C8F55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01968" y="2011680"/>
            <a:ext cx="2542032" cy="2606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01968" y="2011680"/>
            <a:ext cx="2542032" cy="68580"/>
          </a:xfrm>
          <a:prstGeom prst="rect">
            <a:avLst/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94576" y="233172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0">
                <a:solidFill>
                  <a:srgbClr val="1C8F55"/>
                </a:solidFill>
                <a:latin typeface="Segoe UI"/>
                <a:ea typeface="Segoe UI"/>
                <a:cs typeface="Segoe UI"/>
              </a:rPr>
              <a:t>STEP 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94576" y="263347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spc="80">
                <a:solidFill>
                  <a:srgbClr val="142B22"/>
                </a:solidFill>
                <a:latin typeface="Segoe UI Light"/>
                <a:ea typeface="Segoe UI Light"/>
                <a:cs typeface="Segoe UI Light"/>
              </a:rPr>
              <a:t>LOCK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12864" y="3182112"/>
            <a:ext cx="777240" cy="41148"/>
          </a:xfrm>
          <a:prstGeom prst="rect">
            <a:avLst/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94576" y="340156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8F55"/>
                </a:solidFill>
                <a:latin typeface="Noto Sans KR"/>
                <a:ea typeface="Noto Sans KR"/>
                <a:cs typeface="Noto Sans KR"/>
              </a:rPr>
              <a:t>세라마이드 · 8중 HA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3822191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D74"/>
                </a:solidFill>
                <a:latin typeface="Noto Sans KR"/>
                <a:ea typeface="Noto Sans KR"/>
                <a:cs typeface="Noto Sans KR"/>
              </a:rPr>
              <a:t>장벽을 세우고 수분을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D74"/>
                </a:solidFill>
                <a:latin typeface="Noto Sans KR"/>
                <a:ea typeface="Noto Sans KR"/>
                <a:cs typeface="Noto Sans KR"/>
              </a:rPr>
              <a:t>층층이 고정</a:t>
            </a:r>
          </a:p>
        </p:txBody>
      </p:sp>
      <p:sp>
        <p:nvSpPr>
          <p:cNvPr id="29" name="Chevron 28"/>
          <p:cNvSpPr/>
          <p:nvPr/>
        </p:nvSpPr>
        <p:spPr>
          <a:xfrm>
            <a:off x="9194292" y="3127248"/>
            <a:ext cx="329184" cy="365760"/>
          </a:xfrm>
          <a:prstGeom prst="chevron">
            <a:avLst/>
          </a:prstGeom>
          <a:solidFill>
            <a:srgbClr val="1C8F55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573767" y="2011680"/>
            <a:ext cx="2542032" cy="2606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3767" y="2011680"/>
            <a:ext cx="2542032" cy="68580"/>
          </a:xfrm>
          <a:prstGeom prst="rect">
            <a:avLst/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66376" y="233172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0">
                <a:solidFill>
                  <a:srgbClr val="1C8F55"/>
                </a:solidFill>
                <a:latin typeface="Segoe UI"/>
                <a:ea typeface="Segoe UI"/>
                <a:cs typeface="Segoe UI"/>
              </a:rPr>
              <a:t>STEP 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66376" y="263347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spc="80">
                <a:solidFill>
                  <a:srgbClr val="142B22"/>
                </a:solidFill>
                <a:latin typeface="Segoe UI Light"/>
                <a:ea typeface="Segoe UI Light"/>
                <a:cs typeface="Segoe UI Light"/>
              </a:rPr>
              <a:t>BALANCE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84663" y="3182112"/>
            <a:ext cx="777240" cy="41148"/>
          </a:xfrm>
          <a:prstGeom prst="rect">
            <a:avLst/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66376" y="340156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8F55"/>
                </a:solidFill>
                <a:latin typeface="Noto Sans KR"/>
                <a:ea typeface="Noto Sans KR"/>
                <a:cs typeface="Noto Sans KR"/>
              </a:rPr>
              <a:t>마이크로바이옴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66376" y="3822191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D74"/>
                </a:solidFill>
                <a:latin typeface="Noto Sans KR"/>
                <a:ea typeface="Noto Sans KR"/>
                <a:cs typeface="Noto Sans KR"/>
              </a:rPr>
              <a:t>유익균 밸런스로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D74"/>
                </a:solidFill>
                <a:latin typeface="Noto Sans KR"/>
                <a:ea typeface="Noto Sans KR"/>
                <a:cs typeface="Noto Sans KR"/>
              </a:rPr>
              <a:t>건강한 피부 환경 유지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983480"/>
            <a:ext cx="10881360" cy="868680"/>
          </a:xfrm>
          <a:prstGeom prst="roundRect">
            <a:avLst>
              <a:gd name="adj" fmla="val 14000"/>
            </a:avLst>
          </a:prstGeom>
          <a:solidFill>
            <a:srgbClr val="103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5230368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한 병으로 끝나는 재생 루틴 — 복잡한 단계 없이, 올인원 크림 하나로 4단계 케어를 완성합니다.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25449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1C8F55"/>
                </a:solidFill>
                <a:latin typeface="Segoe UI"/>
                <a:ea typeface="Segoe UI"/>
                <a:cs typeface="Segoe UI"/>
              </a:rPr>
              <a:t>LOVION</a:t>
            </a:r>
            <a:r>
              <a:rPr sz="900" spc="120">
                <a:solidFill>
                  <a:srgbClr val="6B7D74"/>
                </a:solidFill>
                <a:latin typeface="Segoe UI"/>
                <a:ea typeface="Segoe UI"/>
                <a:cs typeface="Segoe UI"/>
              </a:rPr>
              <a:t>   GREENCELL BIOME-7™  ALL-IN-ONE CREAM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48695" y="62910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FA599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63640" y="0"/>
            <a:ext cx="5943600" cy="6858000"/>
          </a:xfrm>
          <a:prstGeom prst="rect">
            <a:avLst/>
          </a:prstGeom>
          <a:solidFill>
            <a:srgbClr val="0C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603504"/>
            <a:ext cx="68580" cy="475488"/>
          </a:xfrm>
          <a:prstGeom prst="rect">
            <a:avLst/>
          </a:prstGeom>
          <a:solidFill>
            <a:srgbClr val="2EE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66928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 spc="140"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Product &amp; Ritual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170432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40">
                <a:solidFill>
                  <a:srgbClr val="8FE3C4"/>
                </a:solidFill>
                <a:latin typeface="Noto Sans KR"/>
                <a:ea typeface="Noto Sans KR"/>
                <a:cs typeface="Noto Sans KR"/>
              </a:rPr>
              <a:t>제품 정보와 PDRN 흡수를 높이는 사용 리추얼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933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E87F"/>
                </a:solidFill>
                <a:latin typeface="Noto Sans KR"/>
                <a:ea typeface="Noto Sans KR"/>
                <a:cs typeface="Noto Sans KR"/>
              </a:rPr>
              <a:t>제품명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1975104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그린셀바이옴 올인원 크림 (GREENCELL BIOME-7™ All-in-One Cream)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505456"/>
            <a:ext cx="5074920" cy="10972"/>
          </a:xfrm>
          <a:prstGeom prst="rect">
            <a:avLst/>
          </a:prstGeom>
          <a:solidFill>
            <a:srgbClr val="1E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E87F"/>
                </a:solidFill>
                <a:latin typeface="Noto Sans KR"/>
                <a:ea typeface="Noto Sans KR"/>
                <a:cs typeface="Noto Sans KR"/>
              </a:rPr>
              <a:t>브랜드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2848" y="2633472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LOVION  ·  Clean Scientific Cosmetic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163824"/>
            <a:ext cx="5074920" cy="10972"/>
          </a:xfrm>
          <a:prstGeom prst="rect">
            <a:avLst/>
          </a:prstGeom>
          <a:solidFill>
            <a:srgbClr val="1E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101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E87F"/>
                </a:solidFill>
                <a:latin typeface="Noto Sans KR"/>
                <a:ea typeface="Noto Sans KR"/>
                <a:cs typeface="Noto Sans KR"/>
              </a:rPr>
              <a:t>용량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329184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50ml (1.69 fl. oz.)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822191"/>
            <a:ext cx="5074920" cy="10972"/>
          </a:xfrm>
          <a:prstGeom prst="rect">
            <a:avLst/>
          </a:prstGeom>
          <a:solidFill>
            <a:srgbClr val="1E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96849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E87F"/>
                </a:solidFill>
                <a:latin typeface="Noto Sans KR"/>
                <a:ea typeface="Noto Sans KR"/>
                <a:cs typeface="Noto Sans KR"/>
              </a:rPr>
              <a:t>핵심 설계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2848" y="3950208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PDRN CORE + 5GF 나노좀 + 8중 HA + 복합 세라마이드 + 마이크로바이옴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4480560"/>
            <a:ext cx="5074920" cy="10972"/>
          </a:xfrm>
          <a:prstGeom prst="rect">
            <a:avLst/>
          </a:prstGeom>
          <a:solidFill>
            <a:srgbClr val="1E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6268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E87F"/>
                </a:solidFill>
                <a:latin typeface="Noto Sans KR"/>
                <a:ea typeface="Noto Sans KR"/>
                <a:cs typeface="Noto Sans KR"/>
              </a:rPr>
              <a:t>사용 대상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2848" y="4608576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젠더리스 · 전 연령 데일리 케어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5138927"/>
            <a:ext cx="5074920" cy="10972"/>
          </a:xfrm>
          <a:prstGeom prst="rect">
            <a:avLst/>
          </a:prstGeom>
          <a:solidFill>
            <a:srgbClr val="1E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285231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E87F"/>
                </a:solidFill>
                <a:latin typeface="Noto Sans KR"/>
                <a:ea typeface="Noto Sans KR"/>
                <a:cs typeface="Noto Sans KR"/>
              </a:rPr>
              <a:t>사용 단계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12848" y="5266944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세안 후 마지막 단계, 1일 2회 (아침 · 저녁)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5797296"/>
            <a:ext cx="5074920" cy="10972"/>
          </a:xfrm>
          <a:prstGeom prst="rect">
            <a:avLst/>
          </a:prstGeom>
          <a:solidFill>
            <a:srgbClr val="1E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1993392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260">
                <a:solidFill>
                  <a:srgbClr val="2EE87F"/>
                </a:solidFill>
                <a:latin typeface="Segoe UI"/>
                <a:ea typeface="Segoe UI"/>
                <a:cs typeface="Segoe UI"/>
              </a:rPr>
              <a:t>LAYERING RITUAL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46920" y="2240280"/>
            <a:ext cx="2139696" cy="2688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6" name="Picture 25" descr="p08_사용법_얼굴마사지_일러스트_814x10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48" y="2350008"/>
            <a:ext cx="1919453" cy="2468880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6720840" y="2395728"/>
            <a:ext cx="502920" cy="502920"/>
          </a:xfrm>
          <a:prstGeom prst="ellipse">
            <a:avLst/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8352" y="238658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Neck 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88352" y="2688336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FE3C4"/>
                </a:solidFill>
                <a:latin typeface="Noto Sans KR"/>
                <a:ea typeface="Noto Sans KR"/>
                <a:cs typeface="Noto Sans KR"/>
              </a:rPr>
              <a:t>목선부터 아래에서 위로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FE3C4"/>
                </a:solidFill>
                <a:latin typeface="Noto Sans KR"/>
                <a:ea typeface="Noto Sans KR"/>
                <a:cs typeface="Noto Sans KR"/>
              </a:rPr>
              <a:t>쓸어 올리며 가볍게 도포</a:t>
            </a:r>
          </a:p>
        </p:txBody>
      </p:sp>
      <p:sp>
        <p:nvSpPr>
          <p:cNvPr id="30" name="Oval 29"/>
          <p:cNvSpPr/>
          <p:nvPr/>
        </p:nvSpPr>
        <p:spPr>
          <a:xfrm>
            <a:off x="6720840" y="3328416"/>
            <a:ext cx="502920" cy="502920"/>
          </a:xfrm>
          <a:prstGeom prst="ellipse">
            <a:avLst/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2" y="33192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Jaw &amp; Cheek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3621024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FE3C4"/>
                </a:solidFill>
                <a:latin typeface="Noto Sans KR"/>
                <a:ea typeface="Noto Sans KR"/>
                <a:cs typeface="Noto Sans KR"/>
              </a:rPr>
              <a:t>턱선·볼·눈가를 리프팅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FE3C4"/>
                </a:solidFill>
                <a:latin typeface="Noto Sans KR"/>
                <a:ea typeface="Noto Sans KR"/>
                <a:cs typeface="Noto Sans KR"/>
              </a:rPr>
              <a:t>방향으로 꼼꼼히 도포</a:t>
            </a:r>
          </a:p>
        </p:txBody>
      </p:sp>
      <p:sp>
        <p:nvSpPr>
          <p:cNvPr id="33" name="Oval 32"/>
          <p:cNvSpPr/>
          <p:nvPr/>
        </p:nvSpPr>
        <p:spPr>
          <a:xfrm>
            <a:off x="6720840" y="4261104"/>
            <a:ext cx="502920" cy="502920"/>
          </a:xfrm>
          <a:prstGeom prst="ellipse">
            <a:avLst/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42519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Forehead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88352" y="4553712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FE3C4"/>
                </a:solidFill>
                <a:latin typeface="Noto Sans KR"/>
                <a:ea typeface="Noto Sans KR"/>
                <a:cs typeface="Noto Sans KR"/>
              </a:rPr>
              <a:t>눈썹을 자극하며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FE3C4"/>
                </a:solidFill>
                <a:latin typeface="Noto Sans KR"/>
                <a:ea typeface="Noto Sans KR"/>
                <a:cs typeface="Noto Sans KR"/>
              </a:rPr>
              <a:t>이마까지 마무리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20840" y="5230368"/>
            <a:ext cx="5074920" cy="621792"/>
          </a:xfrm>
          <a:prstGeom prst="roundRect">
            <a:avLst>
              <a:gd name="adj" fmla="val 18000"/>
            </a:avLst>
          </a:prstGeom>
          <a:solidFill>
            <a:srgbClr val="2EE87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67728" y="5367528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FE3C4"/>
                </a:solidFill>
                <a:latin typeface="Noto Sans KR"/>
                <a:ea typeface="Noto Sans KR"/>
                <a:cs typeface="Noto Sans KR"/>
              </a:rPr>
              <a:t>TIP  ·  2~3번 덧바르면 더 깊은 보습과 탄력을 경험할 수 있습니다.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596188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FA599"/>
                </a:solidFill>
                <a:latin typeface="Noto Sans KR"/>
                <a:ea typeface="Noto Sans KR"/>
                <a:cs typeface="Noto Sans KR"/>
              </a:rPr>
              <a:t>※ 용량은 패키지 라벨 표기(50ml / 1.69 fl. oz.) 기준입니다. 제조사·책임판매업자 등 나머지 표시사항은 최종 패키지 기준으로 확정합니다.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25449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2EE87F"/>
                </a:solidFill>
                <a:latin typeface="Segoe UI"/>
                <a:ea typeface="Segoe UI"/>
                <a:cs typeface="Segoe UI"/>
              </a:rPr>
              <a:t>LOVION</a:t>
            </a:r>
            <a:r>
              <a:rPr sz="900" spc="120">
                <a:solidFill>
                  <a:srgbClr val="8FA599"/>
                </a:solidFill>
                <a:latin typeface="Segoe UI"/>
                <a:ea typeface="Segoe UI"/>
                <a:cs typeface="Segoe UI"/>
              </a:rPr>
              <a:t>   GREENCELL BIOME-7™  ALL-IN-ONE CREAM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48695" y="62910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FA599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603504"/>
            <a:ext cx="68580" cy="475488"/>
          </a:xfrm>
          <a:prstGeom prst="rect">
            <a:avLst/>
          </a:prstGeom>
          <a:solidFill>
            <a:srgbClr val="2EE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66928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 spc="140">
                <a:solidFill>
                  <a:srgbClr val="142B22"/>
                </a:solidFill>
                <a:latin typeface="Segoe UI Light"/>
                <a:ea typeface="Segoe UI Light"/>
                <a:cs typeface="Segoe UI Light"/>
              </a:rPr>
              <a:t>Labeling &amp; Claim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170432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40">
                <a:solidFill>
                  <a:srgbClr val="1C8F55"/>
                </a:solidFill>
                <a:latin typeface="Noto Sans KR"/>
                <a:ea typeface="Noto Sans KR"/>
                <a:cs typeface="Noto Sans KR"/>
              </a:rPr>
              <a:t>PDRN 강조 전 반드시 확인해야 하는 항목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47088"/>
            <a:ext cx="10881360" cy="1078992"/>
          </a:xfrm>
          <a:prstGeom prst="roundRect">
            <a:avLst>
              <a:gd name="adj" fmla="val 10000"/>
            </a:avLst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47088"/>
            <a:ext cx="82296" cy="1078992"/>
          </a:xfrm>
          <a:prstGeom prst="rect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48256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7A1E"/>
                </a:solidFill>
                <a:latin typeface="Noto Sans KR"/>
                <a:ea typeface="Noto Sans KR"/>
                <a:cs typeface="Noto Sans KR"/>
              </a:rPr>
              <a:t>표기명 확정 · 나머지 항목 확인 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2B22"/>
                </a:solidFill>
                <a:latin typeface="Noto Sans KR"/>
                <a:ea typeface="Noto Sans KR"/>
                <a:cs typeface="Noto Sans KR"/>
              </a:rPr>
              <a:t>PDRN의 전성분 표기명은 소듐디엔에이(Sodium DNA)로 확정되었습니다.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2B22"/>
                </a:solidFill>
                <a:latin typeface="Noto Sans KR"/>
                <a:ea typeface="Noto Sans KR"/>
                <a:cs typeface="Noto Sans KR"/>
              </a:rPr>
              <a:t>함량·유래 등 나머지 항목은 제조사 확인 자료 수령 후 반영합니다.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B22"/>
                </a:solidFill>
                <a:latin typeface="Noto Sans KR"/>
                <a:ea typeface="Noto Sans KR"/>
                <a:cs typeface="Noto Sans KR"/>
              </a:rPr>
              <a:t>제조사 확인 요청 항목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60273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57530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D74"/>
                </a:solidFill>
                <a:latin typeface="Noto Sans KR"/>
                <a:ea typeface="Noto Sans KR"/>
                <a:cs typeface="Noto Sans KR"/>
              </a:rPr>
              <a:t>PDRN 원료의 실제 배합 여부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96849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394106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D74"/>
                </a:solidFill>
                <a:latin typeface="Noto Sans KR"/>
                <a:ea typeface="Noto Sans KR"/>
                <a:cs typeface="Noto Sans KR"/>
              </a:rPr>
              <a:t>전성분표상 정확한 표기 성분명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33425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430682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D74"/>
                </a:solidFill>
                <a:latin typeface="Noto Sans KR"/>
                <a:ea typeface="Noto Sans KR"/>
                <a:cs typeface="Noto Sans KR"/>
              </a:rPr>
              <a:t>완제품 내 실제 함량 (ppm 또는 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70001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D74"/>
                </a:solidFill>
                <a:latin typeface="Noto Sans KR"/>
                <a:ea typeface="Noto Sans KR"/>
                <a:cs typeface="Noto Sans KR"/>
              </a:rPr>
              <a:t>유래 (연어 / 식물 등) 및 원산지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506577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503834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D74"/>
                </a:solidFill>
                <a:latin typeface="Noto Sans KR"/>
                <a:ea typeface="Noto Sans KR"/>
                <a:cs typeface="Noto Sans KR"/>
              </a:rPr>
              <a:t>원료 규격서 · 시험성적서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43153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540410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D74"/>
                </a:solidFill>
                <a:latin typeface="Noto Sans KR"/>
                <a:ea typeface="Noto Sans KR"/>
                <a:cs typeface="Noto Sans KR"/>
              </a:rPr>
              <a:t>기존 생산분 / 신규 처방 적용 범위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2461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B22"/>
                </a:solidFill>
                <a:latin typeface="Noto Sans KR"/>
                <a:ea typeface="Noto Sans KR"/>
                <a:cs typeface="Noto Sans KR"/>
              </a:rPr>
              <a:t>표현 가이드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611880"/>
            <a:ext cx="5138928" cy="960120"/>
          </a:xfrm>
          <a:prstGeom prst="roundRect">
            <a:avLst>
              <a:gd name="adj" fmla="val 12000"/>
            </a:avLst>
          </a:prstGeom>
          <a:solidFill>
            <a:srgbClr val="EFF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6832" y="3749039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8F55"/>
                </a:solidFill>
                <a:latin typeface="Noto Sans KR"/>
                <a:ea typeface="Noto Sans KR"/>
                <a:cs typeface="Noto Sans KR"/>
              </a:rPr>
              <a:t>사용 가능 (확정 후)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6832" y="4041648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2B22"/>
                </a:solidFill>
                <a:latin typeface="Noto Sans KR"/>
                <a:ea typeface="Noto Sans KR"/>
                <a:cs typeface="Noto Sans KR"/>
              </a:rPr>
              <a:t>“PDRN 성분 함유”, “피부 진정·탄력에 도움”, “장벽 강화 보습”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736592"/>
            <a:ext cx="5138928" cy="960120"/>
          </a:xfrm>
          <a:prstGeom prst="roundRect">
            <a:avLst>
              <a:gd name="adj" fmla="val 12000"/>
            </a:avLst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56832" y="487375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0392B"/>
                </a:solidFill>
                <a:latin typeface="Noto Sans KR"/>
                <a:ea typeface="Noto Sans KR"/>
                <a:cs typeface="Noto Sans KR"/>
              </a:rPr>
              <a:t>사용 불가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2" y="51663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2B22"/>
                </a:solidFill>
                <a:latin typeface="Noto Sans KR"/>
                <a:ea typeface="Noto Sans KR"/>
                <a:cs typeface="Noto Sans KR"/>
              </a:rPr>
              <a:t>“세포 재생·치료·주사 효과 동일”, “의약품적 효능” 표현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870448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7A1E"/>
                </a:solidFill>
                <a:latin typeface="Noto Sans KR"/>
                <a:ea typeface="Noto Sans KR"/>
                <a:cs typeface="Noto Sans KR"/>
              </a:rPr>
              <a:t>※ 발효추출물·캘러스배양추출물은 PDRN과 동일 원료로 볼 수 없습니다.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25449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1C8F55"/>
                </a:solidFill>
                <a:latin typeface="Segoe UI"/>
                <a:ea typeface="Segoe UI"/>
                <a:cs typeface="Segoe UI"/>
              </a:rPr>
              <a:t>LOVION</a:t>
            </a:r>
            <a:r>
              <a:rPr sz="900" spc="120">
                <a:solidFill>
                  <a:srgbClr val="6B7D74"/>
                </a:solidFill>
                <a:latin typeface="Segoe UI"/>
                <a:ea typeface="Segoe UI"/>
                <a:cs typeface="Segoe UI"/>
              </a:rPr>
              <a:t>   GREENCELL BIOME-7™  ALL-IN-ONE CREAM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48695" y="62910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D74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A20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2EE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bottle_r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88720"/>
            <a:ext cx="3661996" cy="4480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77240" y="1188720"/>
            <a:ext cx="3661996" cy="4480560"/>
          </a:xfrm>
          <a:prstGeom prst="rect">
            <a:avLst/>
          </a:prstGeom>
          <a:noFill/>
          <a:ln w="12700">
            <a:solidFill>
              <a:srgbClr val="1C8F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2148840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60">
                <a:solidFill>
                  <a:srgbClr val="2EE87F"/>
                </a:solidFill>
                <a:latin typeface="Segoe UI"/>
                <a:ea typeface="Segoe UI"/>
                <a:cs typeface="Segoe UI"/>
              </a:rPr>
              <a:t>PDRN × GREENCELL BIOME-7™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606040"/>
            <a:ext cx="68580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건강하게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아름다워지는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그날까지…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0016" y="4864608"/>
            <a:ext cx="2011680" cy="45720"/>
          </a:xfrm>
          <a:prstGeom prst="rect">
            <a:avLst/>
          </a:prstGeom>
          <a:solidFill>
            <a:srgbClr val="2EE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5138928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FE3C4"/>
                </a:solidFill>
                <a:latin typeface="Segoe UI"/>
                <a:ea typeface="Segoe UI"/>
                <a:cs typeface="Segoe UI"/>
              </a:rPr>
              <a:t>Clean Scientific Cosmetic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FE3C4"/>
                </a:solidFill>
                <a:latin typeface="Segoe UI"/>
                <a:ea typeface="Segoe UI"/>
                <a:cs typeface="Segoe UI"/>
              </a:rPr>
              <a:t>LOVION  ·  Shelly for 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8695" y="62910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FA599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603504"/>
            <a:ext cx="68580" cy="475488"/>
          </a:xfrm>
          <a:prstGeom prst="rect">
            <a:avLst/>
          </a:prstGeom>
          <a:solidFill>
            <a:srgbClr val="2EE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66928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 spc="140">
                <a:solidFill>
                  <a:srgbClr val="142B22"/>
                </a:solidFill>
                <a:latin typeface="Segoe UI Light"/>
                <a:ea typeface="Segoe UI Light"/>
                <a:cs typeface="Segoe UI Light"/>
              </a:rPr>
              <a:t>Ingredient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170432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40">
                <a:solidFill>
                  <a:srgbClr val="1C8F55"/>
                </a:solidFill>
                <a:latin typeface="Noto Sans KR"/>
                <a:ea typeface="Noto Sans KR"/>
                <a:cs typeface="Noto Sans KR"/>
              </a:rPr>
              <a:t>PDRN과 유사 재생 성분 — 역할이 어떻게 다른가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73936"/>
            <a:ext cx="2148840" cy="402336"/>
          </a:xfrm>
          <a:prstGeom prst="roundRect">
            <a:avLst>
              <a:gd name="adj" fmla="val 25000"/>
            </a:avLst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74519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성분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62072" y="1773936"/>
            <a:ext cx="2788920" cy="402336"/>
          </a:xfrm>
          <a:prstGeom prst="roundRect">
            <a:avLst>
              <a:gd name="adj" fmla="val 25000"/>
            </a:avLst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1874519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핵심 역할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05856" y="1773936"/>
            <a:ext cx="3108960" cy="402336"/>
          </a:xfrm>
          <a:prstGeom prst="roundRect">
            <a:avLst>
              <a:gd name="adj" fmla="val 25000"/>
            </a:avLst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07024" y="187451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작용 방식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1773936"/>
            <a:ext cx="2670048" cy="402336"/>
          </a:xfrm>
          <a:prstGeom prst="roundRect">
            <a:avLst>
              <a:gd name="adj" fmla="val 25000"/>
            </a:avLst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0848" y="1874519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포지션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267712"/>
            <a:ext cx="2148840" cy="640080"/>
          </a:xfrm>
          <a:prstGeom prst="roundRect">
            <a:avLst>
              <a:gd name="adj" fmla="val 14000"/>
            </a:avLst>
          </a:prstGeom>
          <a:solidFill>
            <a:srgbClr val="103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62072" y="2267712"/>
            <a:ext cx="2788920" cy="640080"/>
          </a:xfrm>
          <a:prstGeom prst="roundRect">
            <a:avLst>
              <a:gd name="adj" fmla="val 14000"/>
            </a:avLst>
          </a:prstGeom>
          <a:solidFill>
            <a:srgbClr val="103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05856" y="2267712"/>
            <a:ext cx="3108960" cy="640080"/>
          </a:xfrm>
          <a:prstGeom prst="roundRect">
            <a:avLst>
              <a:gd name="adj" fmla="val 14000"/>
            </a:avLst>
          </a:prstGeom>
          <a:solidFill>
            <a:srgbClr val="103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869680" y="2267712"/>
            <a:ext cx="2670048" cy="640080"/>
          </a:xfrm>
          <a:prstGeom prst="roundRect">
            <a:avLst>
              <a:gd name="adj" fmla="val 14000"/>
            </a:avLst>
          </a:prstGeom>
          <a:solidFill>
            <a:srgbClr val="103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2267712"/>
            <a:ext cx="54864" cy="640080"/>
          </a:xfrm>
          <a:prstGeom prst="rect">
            <a:avLst/>
          </a:prstGeom>
          <a:solidFill>
            <a:srgbClr val="2EE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2459736"/>
            <a:ext cx="1764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PDRN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2478024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뉴클레오타이드 공급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7024" y="24871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FE3C4"/>
                </a:solidFill>
                <a:latin typeface="Noto Sans KR"/>
                <a:ea typeface="Noto Sans KR"/>
                <a:cs typeface="Noto Sans KR"/>
              </a:rPr>
              <a:t>DNA 단편이 재생에 쓰이는 원재료를 직접 공급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0848" y="2487168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E87F"/>
                </a:solidFill>
                <a:latin typeface="Noto Sans KR"/>
                <a:ea typeface="Noto Sans KR"/>
                <a:cs typeface="Noto Sans KR"/>
              </a:rPr>
              <a:t>재생 설계의 출발점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2980944"/>
            <a:ext cx="2148840" cy="640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862072" y="2980944"/>
            <a:ext cx="2788920" cy="640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705856" y="2980944"/>
            <a:ext cx="3108960" cy="640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869680" y="2980944"/>
            <a:ext cx="2670048" cy="640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3172968"/>
            <a:ext cx="1764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B22"/>
                </a:solidFill>
                <a:latin typeface="Noto Sans KR"/>
                <a:ea typeface="Noto Sans KR"/>
                <a:cs typeface="Noto Sans KR"/>
              </a:rPr>
              <a:t>성장인자 (5GF)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3191256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2B22"/>
                </a:solidFill>
                <a:latin typeface="Noto Sans KR"/>
                <a:ea typeface="Noto Sans KR"/>
                <a:cs typeface="Noto Sans KR"/>
              </a:rPr>
              <a:t>세포 신호 전달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07024" y="3200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D74"/>
                </a:solidFill>
                <a:latin typeface="Noto Sans KR"/>
                <a:ea typeface="Noto Sans KR"/>
                <a:cs typeface="Noto Sans KR"/>
              </a:rPr>
              <a:t>성장인자가 피부 구성 세포의 활동을 지시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0848" y="3200400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8F55"/>
                </a:solidFill>
                <a:latin typeface="Noto Sans KR"/>
                <a:ea typeface="Noto Sans KR"/>
                <a:cs typeface="Noto Sans KR"/>
              </a:rPr>
              <a:t>PDRN과 상호 보완 관계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3694176"/>
            <a:ext cx="2148840" cy="640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862072" y="3694176"/>
            <a:ext cx="2788920" cy="640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705856" y="3694176"/>
            <a:ext cx="3108960" cy="640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69680" y="3694176"/>
            <a:ext cx="2670048" cy="640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7824" y="3886200"/>
            <a:ext cx="1764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B22"/>
                </a:solidFill>
                <a:latin typeface="Noto Sans KR"/>
                <a:ea typeface="Noto Sans KR"/>
                <a:cs typeface="Noto Sans KR"/>
              </a:rPr>
              <a:t>8중 히알루론산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63240" y="390448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2B22"/>
                </a:solidFill>
                <a:latin typeface="Noto Sans KR"/>
                <a:ea typeface="Noto Sans KR"/>
                <a:cs typeface="Noto Sans KR"/>
              </a:rPr>
              <a:t>수분 저장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07024" y="39136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D74"/>
                </a:solidFill>
                <a:latin typeface="Noto Sans KR"/>
                <a:ea typeface="Noto Sans KR"/>
                <a:cs typeface="Noto Sans KR"/>
              </a:rPr>
              <a:t>분자량별로 겉·속 수분을 채우고 붙잡아 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70848" y="3913632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8F55"/>
                </a:solidFill>
                <a:latin typeface="Noto Sans KR"/>
                <a:ea typeface="Noto Sans KR"/>
                <a:cs typeface="Noto Sans KR"/>
              </a:rPr>
              <a:t>재생이 아닌 ‘보습’ 축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407408"/>
            <a:ext cx="2148840" cy="640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2072" y="4407408"/>
            <a:ext cx="2788920" cy="640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705856" y="4407408"/>
            <a:ext cx="3108960" cy="640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869680" y="4407408"/>
            <a:ext cx="2670048" cy="640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7824" y="4599432"/>
            <a:ext cx="1764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B22"/>
                </a:solidFill>
                <a:latin typeface="Noto Sans KR"/>
                <a:ea typeface="Noto Sans KR"/>
                <a:cs typeface="Noto Sans KR"/>
              </a:rPr>
              <a:t>복합 세라마이드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63240" y="461772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2B22"/>
                </a:solidFill>
                <a:latin typeface="Noto Sans KR"/>
                <a:ea typeface="Noto Sans KR"/>
                <a:cs typeface="Noto Sans KR"/>
              </a:rPr>
              <a:t>장벽 구성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07024" y="462686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D74"/>
                </a:solidFill>
                <a:latin typeface="Noto Sans KR"/>
                <a:ea typeface="Noto Sans KR"/>
                <a:cs typeface="Noto Sans KR"/>
              </a:rPr>
              <a:t>장벽 지질을 채워 수분 손실을 물리적으로 차단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70848" y="4626864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8F55"/>
                </a:solidFill>
                <a:latin typeface="Noto Sans KR"/>
                <a:ea typeface="Noto Sans KR"/>
                <a:cs typeface="Noto Sans KR"/>
              </a:rPr>
              <a:t>재생이 아닌 ‘방어’ 축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5120640"/>
            <a:ext cx="2148840" cy="640080"/>
          </a:xfrm>
          <a:prstGeom prst="roundRect">
            <a:avLst>
              <a:gd name="adj" fmla="val 14000"/>
            </a:avLst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862072" y="5120640"/>
            <a:ext cx="2788920" cy="640080"/>
          </a:xfrm>
          <a:prstGeom prst="roundRect">
            <a:avLst>
              <a:gd name="adj" fmla="val 14000"/>
            </a:avLst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705856" y="5120640"/>
            <a:ext cx="3108960" cy="640080"/>
          </a:xfrm>
          <a:prstGeom prst="roundRect">
            <a:avLst>
              <a:gd name="adj" fmla="val 14000"/>
            </a:avLst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869680" y="5120640"/>
            <a:ext cx="2670048" cy="640080"/>
          </a:xfrm>
          <a:prstGeom prst="roundRect">
            <a:avLst>
              <a:gd name="adj" fmla="val 14000"/>
            </a:avLst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7824" y="5312664"/>
            <a:ext cx="1764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B22"/>
                </a:solidFill>
                <a:latin typeface="Noto Sans KR"/>
                <a:ea typeface="Noto Sans KR"/>
                <a:cs typeface="Noto Sans KR"/>
              </a:rPr>
              <a:t>발효 · 캘러스 추출물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63240" y="5330952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2B22"/>
                </a:solidFill>
                <a:latin typeface="Noto Sans KR"/>
                <a:ea typeface="Noto Sans KR"/>
                <a:cs typeface="Noto Sans KR"/>
              </a:rPr>
              <a:t>진정 · 컨디셔닝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07024" y="534009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D74"/>
                </a:solidFill>
                <a:latin typeface="Noto Sans KR"/>
                <a:ea typeface="Noto Sans KR"/>
                <a:cs typeface="Noto Sans KR"/>
              </a:rPr>
              <a:t>발효 유효성분·식물 배양 추출물의 컨디셔닝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0848" y="5340096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87A1E"/>
                </a:solidFill>
                <a:latin typeface="Noto Sans KR"/>
                <a:ea typeface="Noto Sans KR"/>
                <a:cs typeface="Noto Sans KR"/>
              </a:rPr>
              <a:t>PDRN 대체 원료가 아님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596188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D74"/>
                </a:solidFill>
                <a:latin typeface="Noto Sans KR"/>
                <a:ea typeface="Noto Sans KR"/>
                <a:cs typeface="Noto Sans KR"/>
              </a:rPr>
              <a:t>※ 성분별 역할을 비교한 일반 정보이며 제품 간 효능 비교가 아닙니다. PDRN의 배합·표기명·함량은 제조사 확인 후 확정합니다.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625449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1C8F55"/>
                </a:solidFill>
                <a:latin typeface="Segoe UI"/>
                <a:ea typeface="Segoe UI"/>
                <a:cs typeface="Segoe UI"/>
              </a:rPr>
              <a:t>LOVION</a:t>
            </a:r>
            <a:r>
              <a:rPr sz="900" spc="120">
                <a:solidFill>
                  <a:srgbClr val="6B7D74"/>
                </a:solidFill>
                <a:latin typeface="Segoe UI"/>
                <a:ea typeface="Segoe UI"/>
                <a:cs typeface="Segoe UI"/>
              </a:rPr>
              <a:t>   GREENCELL BIOME-7™  ALL-IN-ONE CREAM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48695" y="62910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D74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A2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603504"/>
            <a:ext cx="68580" cy="475488"/>
          </a:xfrm>
          <a:prstGeom prst="rect">
            <a:avLst/>
          </a:prstGeom>
          <a:solidFill>
            <a:srgbClr val="2EE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66928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 spc="140"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FAQ &amp; Sales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170432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40">
                <a:solidFill>
                  <a:srgbClr val="8FE3C4"/>
                </a:solidFill>
                <a:latin typeface="Noto Sans KR"/>
                <a:ea typeface="Noto Sans KR"/>
                <a:cs typeface="Noto Sans KR"/>
              </a:rPr>
              <a:t>현장에서 자주 받는 질문과 표준 응대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65960"/>
            <a:ext cx="5266944" cy="1737360"/>
          </a:xfrm>
          <a:prstGeom prst="roundRect">
            <a:avLst>
              <a:gd name="adj" fmla="val 8000"/>
            </a:avLst>
          </a:prstGeom>
          <a:solidFill>
            <a:srgbClr val="103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5266944" cy="54864"/>
          </a:xfrm>
          <a:prstGeom prst="rect">
            <a:avLst/>
          </a:prstGeom>
          <a:solidFill>
            <a:srgbClr val="2EE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9264" y="2240279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2496" y="2276856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PDRN이 실제로 들어 있나요?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862072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FE3C4"/>
                </a:solidFill>
                <a:latin typeface="Noto Sans KR"/>
                <a:ea typeface="Noto Sans KR"/>
                <a:cs typeface="Noto Sans KR"/>
              </a:rPr>
              <a:t>전성분표에 소듐디엔에이(Sodium DNA)로 표기된 성분이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FE3C4"/>
                </a:solidFill>
                <a:latin typeface="Noto Sans KR"/>
                <a:ea typeface="Noto Sans KR"/>
                <a:cs typeface="Noto Sans KR"/>
              </a:rPr>
              <a:t>PDRN입니다. 함량은 확인 후 안내드립니다.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65960"/>
            <a:ext cx="5266944" cy="1737360"/>
          </a:xfrm>
          <a:prstGeom prst="roundRect">
            <a:avLst>
              <a:gd name="adj" fmla="val 8000"/>
            </a:avLst>
          </a:prstGeom>
          <a:solidFill>
            <a:srgbClr val="103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965960"/>
            <a:ext cx="5266944" cy="54864"/>
          </a:xfrm>
          <a:prstGeom prst="rect">
            <a:avLst/>
          </a:prstGeom>
          <a:solidFill>
            <a:srgbClr val="2EE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74536" y="2240279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7768" y="2276856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시술(주사)과 같은 효과인가요?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4536" y="2862072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FE3C4"/>
                </a:solidFill>
                <a:latin typeface="Noto Sans KR"/>
                <a:ea typeface="Noto Sans KR"/>
                <a:cs typeface="Noto Sans KR"/>
              </a:rPr>
              <a:t>아닙니다. 화장품은 피부 표면 케어를 목적으로 하며,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FE3C4"/>
                </a:solidFill>
                <a:latin typeface="Noto Sans KR"/>
                <a:ea typeface="Noto Sans KR"/>
                <a:cs typeface="Noto Sans KR"/>
              </a:rPr>
              <a:t>의학적 시술과 동일한 효과로 설명할 수 없습니다.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950208"/>
            <a:ext cx="5266944" cy="1737360"/>
          </a:xfrm>
          <a:prstGeom prst="roundRect">
            <a:avLst>
              <a:gd name="adj" fmla="val 8000"/>
            </a:avLst>
          </a:prstGeom>
          <a:solidFill>
            <a:srgbClr val="103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950208"/>
            <a:ext cx="5266944" cy="54864"/>
          </a:xfrm>
          <a:prstGeom prst="rect">
            <a:avLst/>
          </a:prstGeom>
          <a:solidFill>
            <a:srgbClr val="2EE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9264" y="4224528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82496" y="4261104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유래가 어떻게 되나요? 비건인가요?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846320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FE3C4"/>
                </a:solidFill>
                <a:latin typeface="Noto Sans KR"/>
                <a:ea typeface="Noto Sans KR"/>
                <a:cs typeface="Noto Sans KR"/>
              </a:rPr>
              <a:t>유래(연어/식물 등)는 원료 규격서 확인 중입니다.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FE3C4"/>
                </a:solidFill>
                <a:latin typeface="Noto Sans KR"/>
                <a:ea typeface="Noto Sans KR"/>
                <a:cs typeface="Noto Sans KR"/>
              </a:rPr>
              <a:t>확정되면 안내드리겠습니다.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950208"/>
            <a:ext cx="5266944" cy="1737360"/>
          </a:xfrm>
          <a:prstGeom prst="roundRect">
            <a:avLst>
              <a:gd name="adj" fmla="val 8000"/>
            </a:avLst>
          </a:prstGeom>
          <a:solidFill>
            <a:srgbClr val="103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950208"/>
            <a:ext cx="5266944" cy="54864"/>
          </a:xfrm>
          <a:prstGeom prst="rect">
            <a:avLst/>
          </a:prstGeom>
          <a:solidFill>
            <a:srgbClr val="2EE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74536" y="4224528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1C8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Q4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7768" y="4261104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민감성 피부도 사용할 수 있나요?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4536" y="4846320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FE3C4"/>
                </a:solidFill>
                <a:latin typeface="Noto Sans KR"/>
                <a:ea typeface="Noto Sans KR"/>
                <a:cs typeface="Noto Sans KR"/>
              </a:rPr>
              <a:t>저자극 설계이지만, 예민한 피부는 팔 안쪽에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FE3C4"/>
                </a:solidFill>
                <a:latin typeface="Noto Sans KR"/>
                <a:ea typeface="Noto Sans KR"/>
                <a:cs typeface="Noto Sans KR"/>
              </a:rPr>
              <a:t>패치 테스트 후 사용을 권장합니다.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96188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FA599"/>
                </a:solidFill>
                <a:latin typeface="Noto Sans KR"/>
                <a:ea typeface="Noto Sans KR"/>
                <a:cs typeface="Noto Sans KR"/>
              </a:rPr>
              <a:t>※ 확정되지 않은 항목은 “확인 중”으로 안내하고 추정 답변을 하지 않습니다. 의약품적 효능·시술 대체 표현은 사용 금지입니다.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25449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2EE87F"/>
                </a:solidFill>
                <a:latin typeface="Segoe UI"/>
                <a:ea typeface="Segoe UI"/>
                <a:cs typeface="Segoe UI"/>
              </a:rPr>
              <a:t>LOVION</a:t>
            </a:r>
            <a:r>
              <a:rPr sz="900" spc="120">
                <a:solidFill>
                  <a:srgbClr val="8FA599"/>
                </a:solidFill>
                <a:latin typeface="Segoe UI"/>
                <a:ea typeface="Segoe UI"/>
                <a:cs typeface="Segoe UI"/>
              </a:rPr>
              <a:t>   GREENCELL BIOME-7™  ALL-IN-ONE CREAM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8695" y="62910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FA599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